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2"/>
  </p:notesMasterIdLst>
  <p:sldIdLst>
    <p:sldId id="256" r:id="rId3"/>
    <p:sldId id="488" r:id="rId4"/>
    <p:sldId id="523" r:id="rId5"/>
    <p:sldId id="529" r:id="rId6"/>
    <p:sldId id="528" r:id="rId7"/>
    <p:sldId id="535" r:id="rId8"/>
    <p:sldId id="537" r:id="rId9"/>
    <p:sldId id="542" r:id="rId10"/>
    <p:sldId id="261" r:id="rId11"/>
  </p:sldIdLst>
  <p:sldSz cx="12192000" cy="6858000"/>
  <p:notesSz cx="7772400" cy="100584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2" d="100"/>
          <a:sy n="102" d="100"/>
        </p:scale>
        <p:origin x="876" y="108"/>
      </p:cViewPr>
      <p:guideLst>
        <p:guide orient="horz" pos="2208"/>
        <p:guide pos="38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gs" Target="tags/tag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5" name="PlaceHolder 1"/>
          <p:cNvSpPr>
            <a:spLocks noGrp="1" noRot="1" noChangeAspect="1"/>
          </p:cNvSpPr>
          <p:nvPr>
            <p:ph type="sldImg"/>
          </p:nvPr>
        </p:nvSpPr>
        <p:spPr>
          <a:xfrm>
            <a:off x="533520" y="764280"/>
            <a:ext cx="6704640" cy="3771360"/>
          </a:xfrm>
          <a:prstGeom prst="rect">
            <a:avLst/>
          </a:prstGeom>
        </p:spPr>
        <p:txBody>
          <a:bodyPr lIns="0" tIns="0" rIns="0" bIns="0" anchor="ctr"/>
          <a:lstStyle/>
          <a:p>
            <a:r>
              <a:rPr lang="en-US" sz="1800" b="0" strike="noStrike" spc="-1">
                <a:solidFill>
                  <a:srgbClr val="000000"/>
                </a:solidFill>
                <a:latin typeface="Arial" panose="020B0604020202020204"/>
              </a:rPr>
              <a:t>Click to move the slide</a:t>
            </a:r>
          </a:p>
        </p:txBody>
      </p:sp>
      <p:sp>
        <p:nvSpPr>
          <p:cNvPr id="86"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panose="020B0604020202020204"/>
              </a:rPr>
              <a:t>Click to edit the notes format</a:t>
            </a:r>
          </a:p>
        </p:txBody>
      </p:sp>
      <p:sp>
        <p:nvSpPr>
          <p:cNvPr id="87"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latin typeface="Times New Roman" panose="02020603050405020304"/>
              </a:rPr>
              <a:t>&lt;header&gt;</a:t>
            </a:r>
          </a:p>
        </p:txBody>
      </p:sp>
      <p:sp>
        <p:nvSpPr>
          <p:cNvPr id="88"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latin typeface="Times New Roman" panose="02020603050405020304"/>
              </a:rPr>
              <a:t>&lt;date/time&gt;</a:t>
            </a:r>
          </a:p>
        </p:txBody>
      </p:sp>
      <p:sp>
        <p:nvSpPr>
          <p:cNvPr id="89"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latin typeface="Times New Roman" panose="02020603050405020304"/>
              </a:rPr>
              <a:t>&lt;footer&gt;</a:t>
            </a:r>
          </a:p>
        </p:txBody>
      </p:sp>
      <p:sp>
        <p:nvSpPr>
          <p:cNvPr id="90" name="PlaceHolder 6"/>
          <p:cNvSpPr>
            <a:spLocks noGrp="1"/>
          </p:cNvSpPr>
          <p:nvPr>
            <p:ph type="sldNum"/>
          </p:nvPr>
        </p:nvSpPr>
        <p:spPr>
          <a:xfrm>
            <a:off x="4399200" y="9555480"/>
            <a:ext cx="3372840" cy="502560"/>
          </a:xfrm>
          <a:prstGeom prst="rect">
            <a:avLst/>
          </a:prstGeom>
        </p:spPr>
        <p:txBody>
          <a:bodyPr lIns="0" tIns="0" rIns="0" bIns="0" anchor="b"/>
          <a:lstStyle/>
          <a:p>
            <a:pPr algn="r"/>
            <a:fld id="{B4D0B3E3-2AD5-4330-969E-1C23BDCCCD4D}" type="slidenum">
              <a:rPr lang="en-US" sz="1400" b="0" strike="noStrike" spc="-1">
                <a:latin typeface="Times New Roman" panose="02020603050405020304"/>
              </a:rPr>
              <a:t>‹#›</a:t>
            </a:fld>
            <a:endParaRPr lang="en-US" sz="14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laceHolder 1"/>
          <p:cNvSpPr>
            <a:spLocks noGrp="1" noRot="1" noChangeAspect="1"/>
          </p:cNvSpPr>
          <p:nvPr>
            <p:ph type="sldImg"/>
          </p:nvPr>
        </p:nvSpPr>
        <p:spPr>
          <a:xfrm>
            <a:off x="869950" y="1257300"/>
            <a:ext cx="6032500" cy="3394075"/>
          </a:xfrm>
          <a:prstGeom prst="rect">
            <a:avLst/>
          </a:prstGeom>
        </p:spPr>
      </p:sp>
      <p:sp>
        <p:nvSpPr>
          <p:cNvPr id="119" name="PlaceHolder 2"/>
          <p:cNvSpPr>
            <a:spLocks noGrp="1"/>
          </p:cNvSpPr>
          <p:nvPr>
            <p:ph type="body"/>
          </p:nvPr>
        </p:nvSpPr>
        <p:spPr>
          <a:xfrm>
            <a:off x="777960" y="4840200"/>
            <a:ext cx="6215400" cy="3959640"/>
          </a:xfrm>
          <a:prstGeom prst="rect">
            <a:avLst/>
          </a:prstGeom>
        </p:spPr>
        <p:txBody>
          <a:bodyPr lIns="0" tIns="0" rIns="0" bIns="0"/>
          <a:lstStyle/>
          <a:p>
            <a:endParaRPr lang="en-US" sz="2000" b="0" strike="noStrike" spc="-1">
              <a:latin typeface="Arial" panose="020B0604020202020204"/>
            </a:endParaRPr>
          </a:p>
        </p:txBody>
      </p:sp>
      <p:sp>
        <p:nvSpPr>
          <p:cNvPr id="120" name="CustomShape 3"/>
          <p:cNvSpPr/>
          <p:nvPr/>
        </p:nvSpPr>
        <p:spPr>
          <a:xfrm>
            <a:off x="4402080" y="9553680"/>
            <a:ext cx="3367440" cy="503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B9FCDD0C-20BC-43BA-9B17-C6B861C9D1ED}" type="slidenum">
              <a:rPr lang="en-US" sz="1200" b="0" strike="noStrike" spc="-1">
                <a:solidFill>
                  <a:srgbClr val="000000"/>
                </a:solidFill>
                <a:latin typeface="Times New Roman" panose="02020603050405020304"/>
                <a:ea typeface="+mn-ea"/>
              </a:rPr>
              <a:t>2</a:t>
            </a:fld>
            <a:endParaRPr lang="en-US" sz="1200" b="0" strike="noStrike" spc="-1">
              <a:latin typeface="Arial" panose="020B06040202020202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5"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1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1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1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1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1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1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2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2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2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2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2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2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2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3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3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3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3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3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3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3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3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3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50"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52"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5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7"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5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6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6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6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6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65"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6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6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69"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71"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72"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7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7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7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77"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panose="020B0604020202020204"/>
            </a:endParaRPr>
          </a:p>
        </p:txBody>
      </p:sp>
      <p:sp>
        <p:nvSpPr>
          <p:cNvPr id="79"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80"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81"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82"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83"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
        <p:nvSpPr>
          <p:cNvPr id="84"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5.png"/><Relationship Id="rId2" Type="http://schemas.openxmlformats.org/officeDocument/2006/relationships/slideLayout" Target="../slideLayouts/slideLayout14.xml"/><Relationship Id="rId16" Type="http://schemas.openxmlformats.org/officeDocument/2006/relationships/image" Target="../media/image4.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3.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ustomShape 1"/>
          <p:cNvSpPr/>
          <p:nvPr/>
        </p:nvSpPr>
        <p:spPr>
          <a:xfrm>
            <a:off x="0" y="2637000"/>
            <a:ext cx="12189240" cy="68400"/>
          </a:xfrm>
          <a:prstGeom prst="rect">
            <a:avLst/>
          </a:prstGeom>
          <a:gradFill rotWithShape="0">
            <a:gsLst>
              <a:gs pos="0">
                <a:srgbClr val="766000"/>
              </a:gs>
              <a:gs pos="100000">
                <a:srgbClr val="FFDE53"/>
              </a:gs>
            </a:gsLst>
            <a:lin ang="0"/>
          </a:gradFill>
          <a:ln w="3240">
            <a:solidFill>
              <a:srgbClr val="FFDE53"/>
            </a:solidFill>
            <a:miter/>
          </a:ln>
        </p:spPr>
        <p:style>
          <a:lnRef idx="0">
            <a:scrgbClr r="0" g="0" b="0"/>
          </a:lnRef>
          <a:fillRef idx="0">
            <a:scrgbClr r="0" g="0" b="0"/>
          </a:fillRef>
          <a:effectRef idx="0">
            <a:scrgbClr r="0" g="0" b="0"/>
          </a:effectRef>
          <a:fontRef idx="minor"/>
        </p:style>
        <p:txBody>
          <a:bodyPr/>
          <a:lstStyle/>
          <a:p>
            <a:endParaRPr lang="ko-KR" altLang="en-US"/>
          </a:p>
        </p:txBody>
      </p:sp>
      <p:pic>
        <p:nvPicPr>
          <p:cNvPr id="5" name="Picture 2"/>
          <p:cNvPicPr/>
          <p:nvPr/>
        </p:nvPicPr>
        <p:blipFill>
          <a:blip r:embed="rId14"/>
          <a:srcRect l="533" t="5838" r="675" b="6157"/>
          <a:stretch>
            <a:fillRect/>
          </a:stretch>
        </p:blipFill>
        <p:spPr>
          <a:xfrm>
            <a:off x="4481640" y="4273200"/>
            <a:ext cx="3211200" cy="2532240"/>
          </a:xfrm>
          <a:prstGeom prst="rect">
            <a:avLst/>
          </a:prstGeom>
          <a:ln>
            <a:noFill/>
          </a:ln>
        </p:spPr>
      </p:pic>
      <p:sp>
        <p:nvSpPr>
          <p:cNvPr id="2" name="PlaceHolder 2"/>
          <p:cNvSpPr>
            <a:spLocks noGrp="1"/>
          </p:cNvSpPr>
          <p:nvPr>
            <p:ph type="title"/>
          </p:nvPr>
        </p:nvSpPr>
        <p:spPr>
          <a:xfrm>
            <a:off x="609480" y="273600"/>
            <a:ext cx="10972440" cy="1144800"/>
          </a:xfrm>
          <a:prstGeom prst="rect">
            <a:avLst/>
          </a:prstGeom>
        </p:spPr>
        <p:txBody>
          <a:bodyPr lIns="0" tIns="0" rIns="0" bIns="0" anchor="ctr"/>
          <a:lstStyle/>
          <a:p>
            <a:r>
              <a:rPr lang="en-US" sz="1800" b="0" strike="noStrike" spc="-1">
                <a:solidFill>
                  <a:srgbClr val="000000"/>
                </a:solidFill>
                <a:latin typeface="Arial" panose="020B0604020202020204"/>
              </a:rPr>
              <a:t>Click to edit the title text format</a:t>
            </a:r>
          </a:p>
        </p:txBody>
      </p:sp>
      <p:sp>
        <p:nvSpPr>
          <p:cNvPr id="3" name="PlaceHolder 3"/>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20204"/>
              </a:rPr>
              <a:t>Click to edit the outline text format</a:t>
            </a:r>
          </a:p>
          <a:p>
            <a:pPr marL="864235" lvl="1" indent="-323850">
              <a:spcBef>
                <a:spcPts val="1135"/>
              </a:spcBef>
              <a:buClr>
                <a:srgbClr val="000000"/>
              </a:buClr>
              <a:buSzPct val="75000"/>
              <a:buFont typeface="Symbol" panose="05050102010706020507" charset="2"/>
              <a:buChar char=""/>
            </a:pPr>
            <a:r>
              <a:rPr lang="en-US" sz="2000" b="0" strike="noStrike" spc="-1">
                <a:solidFill>
                  <a:srgbClr val="000000"/>
                </a:solidFill>
                <a:latin typeface="Arial" panose="020B0604020202020204"/>
              </a:rPr>
              <a:t>Second Outline Level</a:t>
            </a:r>
          </a:p>
          <a:p>
            <a:pPr marL="1296035" lvl="2" indent="-288290">
              <a:spcBef>
                <a:spcPts val="850"/>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20204"/>
              </a:rPr>
              <a:t>Third Outline Level</a:t>
            </a:r>
          </a:p>
          <a:p>
            <a:pPr marL="1727835" lvl="3" indent="-215900">
              <a:spcBef>
                <a:spcPts val="565"/>
              </a:spcBef>
              <a:buClr>
                <a:srgbClr val="000000"/>
              </a:buClr>
              <a:buSzPct val="75000"/>
              <a:buFont typeface="Symbol" panose="05050102010706020507" charset="2"/>
              <a:buChar char=""/>
            </a:pPr>
            <a:r>
              <a:rPr lang="en-US" sz="1800" b="0" strike="noStrike" spc="-1">
                <a:solidFill>
                  <a:srgbClr val="000000"/>
                </a:solidFill>
                <a:latin typeface="Arial" panose="020B0604020202020204"/>
              </a:rPr>
              <a:t>Fourth Outline Level</a:t>
            </a:r>
          </a:p>
          <a:p>
            <a:pPr marL="2160270" lvl="4"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20204"/>
              </a:rPr>
              <a:t>Fifth Outline Level</a:t>
            </a:r>
          </a:p>
          <a:p>
            <a:pPr marL="2592070" lvl="5"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20204"/>
              </a:rPr>
              <a:t>Sixth Outline Level</a:t>
            </a:r>
          </a:p>
          <a:p>
            <a:pPr marL="3023870" lvl="6"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CustomShape 1"/>
          <p:cNvSpPr/>
          <p:nvPr/>
        </p:nvSpPr>
        <p:spPr>
          <a:xfrm>
            <a:off x="0" y="0"/>
            <a:ext cx="12189240" cy="530640"/>
          </a:xfrm>
          <a:prstGeom prst="rect">
            <a:avLst/>
          </a:prstGeom>
          <a:gradFill rotWithShape="0">
            <a:gsLst>
              <a:gs pos="0">
                <a:srgbClr val="D0D0D0"/>
              </a:gs>
              <a:gs pos="100000">
                <a:schemeClr val="bg1">
                  <a:alpha val="0"/>
                </a:schemeClr>
              </a:gs>
            </a:gsLst>
            <a:lin ang="0"/>
          </a:gradFill>
          <a:ln>
            <a:noFill/>
          </a:ln>
        </p:spPr>
        <p:style>
          <a:lnRef idx="0">
            <a:scrgbClr r="0" g="0" b="0"/>
          </a:lnRef>
          <a:fillRef idx="0">
            <a:scrgbClr r="0" g="0" b="0"/>
          </a:fillRef>
          <a:effectRef idx="0">
            <a:scrgbClr r="0" g="0" b="0"/>
          </a:effectRef>
          <a:fontRef idx="minor"/>
        </p:style>
        <p:txBody>
          <a:bodyPr/>
          <a:lstStyle/>
          <a:p>
            <a:endParaRPr lang="ko-KR" altLang="en-US"/>
          </a:p>
        </p:txBody>
      </p:sp>
      <p:pic>
        <p:nvPicPr>
          <p:cNvPr id="41" name="Picture 10"/>
          <p:cNvPicPr/>
          <p:nvPr/>
        </p:nvPicPr>
        <p:blipFill>
          <a:blip r:embed="rId14"/>
          <a:stretch>
            <a:fillRect/>
          </a:stretch>
        </p:blipFill>
        <p:spPr>
          <a:xfrm>
            <a:off x="11640600" y="8640"/>
            <a:ext cx="523440" cy="501120"/>
          </a:xfrm>
          <a:prstGeom prst="rect">
            <a:avLst/>
          </a:prstGeom>
          <a:ln>
            <a:noFill/>
          </a:ln>
        </p:spPr>
      </p:pic>
      <p:pic>
        <p:nvPicPr>
          <p:cNvPr id="42" name="그림 14"/>
          <p:cNvPicPr/>
          <p:nvPr/>
        </p:nvPicPr>
        <p:blipFill>
          <a:blip r:embed="rId15"/>
          <a:stretch>
            <a:fillRect/>
          </a:stretch>
        </p:blipFill>
        <p:spPr>
          <a:xfrm>
            <a:off x="883080" y="6545520"/>
            <a:ext cx="1990440" cy="195120"/>
          </a:xfrm>
          <a:prstGeom prst="rect">
            <a:avLst/>
          </a:prstGeom>
          <a:ln>
            <a:noFill/>
          </a:ln>
        </p:spPr>
      </p:pic>
      <p:pic>
        <p:nvPicPr>
          <p:cNvPr id="43" name="Picture 7"/>
          <p:cNvPicPr/>
          <p:nvPr/>
        </p:nvPicPr>
        <p:blipFill>
          <a:blip r:embed="rId16">
            <a:lum contrast="6000"/>
          </a:blip>
          <a:srcRect t="6245" b="10325"/>
          <a:stretch>
            <a:fillRect/>
          </a:stretch>
        </p:blipFill>
        <p:spPr>
          <a:xfrm>
            <a:off x="46440" y="6453360"/>
            <a:ext cx="765360" cy="357480"/>
          </a:xfrm>
          <a:prstGeom prst="rect">
            <a:avLst/>
          </a:prstGeom>
          <a:ln>
            <a:noFill/>
          </a:ln>
        </p:spPr>
      </p:pic>
      <p:sp>
        <p:nvSpPr>
          <p:cNvPr id="44" name="CustomShape 2"/>
          <p:cNvSpPr/>
          <p:nvPr/>
        </p:nvSpPr>
        <p:spPr>
          <a:xfrm>
            <a:off x="0" y="6351480"/>
            <a:ext cx="12189240" cy="66960"/>
          </a:xfrm>
          <a:prstGeom prst="rect">
            <a:avLst/>
          </a:prstGeom>
          <a:gradFill rotWithShape="0">
            <a:gsLst>
              <a:gs pos="0">
                <a:srgbClr val="333333"/>
              </a:gs>
              <a:gs pos="100000">
                <a:srgbClr val="D0D0D0"/>
              </a:gs>
            </a:gsLst>
            <a:lin ang="0"/>
          </a:gradFill>
          <a:ln w="3240">
            <a:solidFill>
              <a:srgbClr val="ABABAB"/>
            </a:solidFill>
            <a:miter/>
          </a:ln>
        </p:spPr>
        <p:style>
          <a:lnRef idx="0">
            <a:scrgbClr r="0" g="0" b="0"/>
          </a:lnRef>
          <a:fillRef idx="0">
            <a:scrgbClr r="0" g="0" b="0"/>
          </a:fillRef>
          <a:effectRef idx="0">
            <a:scrgbClr r="0" g="0" b="0"/>
          </a:effectRef>
          <a:fontRef idx="minor"/>
        </p:style>
        <p:txBody>
          <a:bodyPr/>
          <a:lstStyle/>
          <a:p>
            <a:endParaRPr lang="ko-KR" altLang="en-US"/>
          </a:p>
        </p:txBody>
      </p:sp>
      <p:pic>
        <p:nvPicPr>
          <p:cNvPr id="45" name="그림 4"/>
          <p:cNvPicPr/>
          <p:nvPr/>
        </p:nvPicPr>
        <p:blipFill>
          <a:blip r:embed="rId17"/>
          <a:stretch>
            <a:fillRect/>
          </a:stretch>
        </p:blipFill>
        <p:spPr>
          <a:xfrm>
            <a:off x="11209680" y="6453360"/>
            <a:ext cx="913320" cy="403200"/>
          </a:xfrm>
          <a:prstGeom prst="rect">
            <a:avLst/>
          </a:prstGeom>
          <a:ln>
            <a:noFill/>
          </a:ln>
        </p:spPr>
      </p:pic>
      <p:sp>
        <p:nvSpPr>
          <p:cNvPr id="46" name="CustomShape 3"/>
          <p:cNvSpPr/>
          <p:nvPr/>
        </p:nvSpPr>
        <p:spPr>
          <a:xfrm>
            <a:off x="0" y="534960"/>
            <a:ext cx="12189240" cy="68400"/>
          </a:xfrm>
          <a:prstGeom prst="rect">
            <a:avLst/>
          </a:prstGeom>
          <a:gradFill rotWithShape="0">
            <a:gsLst>
              <a:gs pos="0">
                <a:srgbClr val="766000"/>
              </a:gs>
              <a:gs pos="100000">
                <a:srgbClr val="FFDE53"/>
              </a:gs>
            </a:gsLst>
            <a:lin ang="0"/>
          </a:gradFill>
          <a:ln w="3240">
            <a:solidFill>
              <a:srgbClr val="E8BC00"/>
            </a:solidFill>
            <a:miter/>
          </a:ln>
        </p:spPr>
        <p:style>
          <a:lnRef idx="0">
            <a:scrgbClr r="0" g="0" b="0"/>
          </a:lnRef>
          <a:fillRef idx="0">
            <a:scrgbClr r="0" g="0" b="0"/>
          </a:fillRef>
          <a:effectRef idx="0">
            <a:scrgbClr r="0" g="0" b="0"/>
          </a:effectRef>
          <a:fontRef idx="minor"/>
        </p:style>
        <p:txBody>
          <a:bodyPr/>
          <a:lstStyle/>
          <a:p>
            <a:endParaRPr lang="ko-KR" altLang="en-US"/>
          </a:p>
        </p:txBody>
      </p:sp>
      <p:sp>
        <p:nvSpPr>
          <p:cNvPr id="47" name="PlaceHolder 4"/>
          <p:cNvSpPr>
            <a:spLocks noGrp="1"/>
          </p:cNvSpPr>
          <p:nvPr>
            <p:ph type="title"/>
          </p:nvPr>
        </p:nvSpPr>
        <p:spPr>
          <a:xfrm>
            <a:off x="609480" y="273600"/>
            <a:ext cx="10972440" cy="1144800"/>
          </a:xfrm>
          <a:prstGeom prst="rect">
            <a:avLst/>
          </a:prstGeom>
        </p:spPr>
        <p:txBody>
          <a:bodyPr lIns="0" tIns="0" rIns="0" bIns="0" anchor="ctr"/>
          <a:lstStyle/>
          <a:p>
            <a:r>
              <a:rPr lang="en-US" sz="1800" b="0" strike="noStrike" spc="-1">
                <a:solidFill>
                  <a:srgbClr val="000000"/>
                </a:solidFill>
                <a:latin typeface="Arial" panose="020B0604020202020204"/>
              </a:rPr>
              <a:t>Click to edit the title text format</a:t>
            </a:r>
          </a:p>
        </p:txBody>
      </p:sp>
      <p:sp>
        <p:nvSpPr>
          <p:cNvPr id="48" name="PlaceHolder 5"/>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Arial" panose="020B0604020202020204"/>
              </a:rPr>
              <a:t>Click to edit the outline text format</a:t>
            </a:r>
          </a:p>
          <a:p>
            <a:pPr marL="864235" lvl="1" indent="-323850">
              <a:spcBef>
                <a:spcPts val="1135"/>
              </a:spcBef>
              <a:buClr>
                <a:srgbClr val="000000"/>
              </a:buClr>
              <a:buSzPct val="75000"/>
              <a:buFont typeface="Symbol" panose="05050102010706020507" charset="2"/>
              <a:buChar char=""/>
            </a:pPr>
            <a:r>
              <a:rPr lang="en-US" sz="2000" b="0" strike="noStrike" spc="-1">
                <a:solidFill>
                  <a:srgbClr val="000000"/>
                </a:solidFill>
                <a:latin typeface="Arial" panose="020B0604020202020204"/>
              </a:rPr>
              <a:t>Second Outline Level</a:t>
            </a:r>
          </a:p>
          <a:p>
            <a:pPr marL="1296035" lvl="2" indent="-288290">
              <a:spcBef>
                <a:spcPts val="850"/>
              </a:spcBef>
              <a:buClr>
                <a:srgbClr val="000000"/>
              </a:buClr>
              <a:buSzPct val="45000"/>
              <a:buFont typeface="Wingdings" panose="05000000000000000000" pitchFamily="2" charset="2"/>
              <a:buChar char=""/>
            </a:pPr>
            <a:r>
              <a:rPr lang="en-US" sz="1800" b="0" strike="noStrike" spc="-1">
                <a:solidFill>
                  <a:srgbClr val="000000"/>
                </a:solidFill>
                <a:latin typeface="Arial" panose="020B0604020202020204"/>
              </a:rPr>
              <a:t>Third Outline Level</a:t>
            </a:r>
          </a:p>
          <a:p>
            <a:pPr marL="1727835" lvl="3" indent="-215900">
              <a:spcBef>
                <a:spcPts val="565"/>
              </a:spcBef>
              <a:buClr>
                <a:srgbClr val="000000"/>
              </a:buClr>
              <a:buSzPct val="75000"/>
              <a:buFont typeface="Symbol" panose="05050102010706020507" charset="2"/>
              <a:buChar char=""/>
            </a:pPr>
            <a:r>
              <a:rPr lang="en-US" sz="1800" b="0" strike="noStrike" spc="-1">
                <a:solidFill>
                  <a:srgbClr val="000000"/>
                </a:solidFill>
                <a:latin typeface="Arial" panose="020B0604020202020204"/>
              </a:rPr>
              <a:t>Fourth Outline Level</a:t>
            </a:r>
          </a:p>
          <a:p>
            <a:pPr marL="2160270" lvl="4"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20204"/>
              </a:rPr>
              <a:t>Fifth Outline Level</a:t>
            </a:r>
          </a:p>
          <a:p>
            <a:pPr marL="2592070" lvl="5"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20204"/>
              </a:rPr>
              <a:t>Sixth Outline Level</a:t>
            </a:r>
          </a:p>
          <a:p>
            <a:pPr marL="3023870" lvl="6" indent="-215900">
              <a:spcBef>
                <a:spcPts val="285"/>
              </a:spcBef>
              <a:buClr>
                <a:srgbClr val="000000"/>
              </a:buClr>
              <a:buSzPct val="45000"/>
              <a:buFont typeface="Wingdings" panose="05000000000000000000" pitchFamily="2" charset="2"/>
              <a:buChar char=""/>
            </a:pPr>
            <a:r>
              <a:rPr lang="en-US" sz="2000" b="0" strike="noStrike" spc="-1">
                <a:solidFill>
                  <a:srgbClr val="000000"/>
                </a:solidFill>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4.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4.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CustomShape 1"/>
          <p:cNvSpPr/>
          <p:nvPr/>
        </p:nvSpPr>
        <p:spPr>
          <a:xfrm>
            <a:off x="866160" y="108720"/>
            <a:ext cx="10418760" cy="250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90000"/>
              </a:lnSpc>
            </a:pPr>
            <a:r>
              <a:rPr lang="x-none" altLang="en-US" sz="4400" b="1" strike="noStrike" spc="-1">
                <a:solidFill>
                  <a:srgbClr val="002060"/>
                </a:solidFill>
                <a:latin typeface="Calibri" panose="020F0502020204030204"/>
                <a:ea typeface="DejaVu Sans" panose="020B0603030804020204"/>
              </a:rPr>
              <a:t>Weekly Report</a:t>
            </a:r>
          </a:p>
          <a:p>
            <a:pPr algn="ctr">
              <a:lnSpc>
                <a:spcPct val="90000"/>
              </a:lnSpc>
            </a:pPr>
            <a:endParaRPr lang="x-none" altLang="en-US" sz="2400" b="1" strike="noStrike" spc="-1">
              <a:solidFill>
                <a:srgbClr val="002060"/>
              </a:solidFill>
              <a:latin typeface="Calibri" panose="020F0502020204030204"/>
              <a:ea typeface="DejaVu Sans" panose="020B0603030804020204"/>
            </a:endParaRPr>
          </a:p>
        </p:txBody>
      </p:sp>
      <p:sp>
        <p:nvSpPr>
          <p:cNvPr id="92" name="CustomShape 2"/>
          <p:cNvSpPr/>
          <p:nvPr/>
        </p:nvSpPr>
        <p:spPr>
          <a:xfrm>
            <a:off x="6400800" y="2971800"/>
            <a:ext cx="6318885" cy="21907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100000"/>
              </a:lnSpc>
            </a:pPr>
            <a:r>
              <a:rPr lang="en-US" sz="3200" b="0" strike="noStrike" spc="-1" dirty="0">
                <a:solidFill>
                  <a:srgbClr val="0070C0"/>
                </a:solidFill>
                <a:latin typeface="Calibri" panose="020F0502020204030204"/>
                <a:ea typeface="Malgun Gothic" panose="020B0503020000020004" charset="-127"/>
              </a:rPr>
              <a:t>WEN YUHE</a:t>
            </a:r>
            <a:br>
              <a:rPr lang="en-US" sz="3200" b="0" strike="noStrike" spc="-1" dirty="0">
                <a:solidFill>
                  <a:srgbClr val="0070C0"/>
                </a:solidFill>
                <a:latin typeface="Calibri" panose="020F0502020204030204"/>
                <a:ea typeface="Malgun Gothic" panose="020B0503020000020004" charset="-127"/>
              </a:rPr>
            </a:br>
            <a:r>
              <a:rPr lang="en-US" sz="3200" b="0" strike="noStrike" spc="-1" dirty="0">
                <a:solidFill>
                  <a:srgbClr val="0070C0"/>
                </a:solidFill>
                <a:latin typeface="Calibri" panose="020F0502020204030204"/>
                <a:ea typeface="Malgun Gothic" panose="020B0503020000020004" charset="-127"/>
              </a:rPr>
              <a:t>2026/2/11</a:t>
            </a:r>
            <a:endParaRPr lang="en-US" altLang="en-US" sz="3200" b="0" strike="noStrike" spc="-1" dirty="0">
              <a:solidFill>
                <a:srgbClr val="0070C0"/>
              </a:solidFill>
              <a:latin typeface="Calibri" panose="020F0502020204030204"/>
              <a:ea typeface="Malgun Gothic" panose="020B0503020000020004" charset="-12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0" y="0"/>
            <a:ext cx="12189240" cy="530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90000"/>
              </a:lnSpc>
            </a:pPr>
            <a:r>
              <a:rPr lang="en-US" altLang="x-none" sz="3200" b="1" strike="noStrike" spc="-1" dirty="0">
                <a:solidFill>
                  <a:srgbClr val="002060"/>
                </a:solidFill>
                <a:latin typeface="Calibri" panose="020F0502020204030204"/>
                <a:ea typeface="DejaVu Sans" panose="020B0603030804020204"/>
              </a:rPr>
              <a:t>My task</a:t>
            </a:r>
          </a:p>
        </p:txBody>
      </p:sp>
      <p:sp>
        <p:nvSpPr>
          <p:cNvPr id="3" name="文本框 2"/>
          <p:cNvSpPr txBox="1"/>
          <p:nvPr/>
        </p:nvSpPr>
        <p:spPr>
          <a:xfrm>
            <a:off x="313055" y="609600"/>
            <a:ext cx="10201275" cy="2800985"/>
          </a:xfrm>
          <a:prstGeom prst="rect">
            <a:avLst/>
          </a:prstGeom>
          <a:noFill/>
        </p:spPr>
        <p:txBody>
          <a:bodyPr wrap="square" rtlCol="0">
            <a:noAutofit/>
          </a:bodyPr>
          <a:lstStyle/>
          <a:p>
            <a:r>
              <a:rPr lang="en-US" altLang="zh-CN" sz="3200" b="1" spc="-1" dirty="0">
                <a:solidFill>
                  <a:srgbClr val="002060"/>
                </a:solidFill>
                <a:latin typeface="Calibri" panose="020F0502020204030204"/>
                <a:ea typeface="DejaVu Sans" panose="020B0603030804020204"/>
              </a:rPr>
              <a:t>major task:</a:t>
            </a:r>
            <a:br>
              <a:rPr lang="en-US" altLang="zh-CN" sz="3200" b="1" spc="-1" dirty="0">
                <a:solidFill>
                  <a:srgbClr val="002060"/>
                </a:solidFill>
                <a:latin typeface="Calibri" panose="020F0502020204030204"/>
                <a:ea typeface="DejaVu Sans" panose="020B0603030804020204"/>
              </a:rPr>
            </a:br>
            <a:r>
              <a:rPr lang="en-US" altLang="zh-CN" sz="2400" b="1" spc="-1" dirty="0">
                <a:solidFill>
                  <a:srgbClr val="002060"/>
                </a:solidFill>
                <a:latin typeface="Calibri" panose="020F0502020204030204"/>
                <a:ea typeface="DejaVu Sans" panose="020B0603030804020204"/>
              </a:rPr>
              <a:t>Xpanner Pile Detection &amp; Distance Estimation System</a:t>
            </a:r>
            <a:br>
              <a:rPr lang="en-US" altLang="zh-CN" sz="2400" b="1" spc="-1" dirty="0">
                <a:solidFill>
                  <a:srgbClr val="002060"/>
                </a:solidFill>
                <a:latin typeface="Calibri" panose="020F0502020204030204"/>
                <a:ea typeface="DejaVu Sans" panose="020B0603030804020204"/>
              </a:rPr>
            </a:br>
            <a:br>
              <a:rPr lang="zh-CN" altLang="en-US" sz="2400" b="1" spc="-1" dirty="0">
                <a:solidFill>
                  <a:srgbClr val="002060"/>
                </a:solidFill>
                <a:latin typeface="Calibri" panose="020F0502020204030204"/>
                <a:ea typeface="DejaVu Sans" panose="020B0603030804020204"/>
              </a:rPr>
            </a:br>
            <a:r>
              <a:rPr lang="en-US" altLang="x-none" sz="2400" b="1" spc="-1" dirty="0">
                <a:solidFill>
                  <a:srgbClr val="002060"/>
                </a:solidFill>
                <a:latin typeface="Calibri" panose="020F0502020204030204"/>
                <a:ea typeface="DejaVu Sans" panose="020B0603030804020204"/>
              </a:rPr>
              <a:t>-Based on the current Xpanner dataset, build a pile detection module to:</a:t>
            </a:r>
          </a:p>
          <a:p>
            <a:endParaRPr lang="zh-CN" altLang="en-US" sz="2400" b="1" spc="-1" dirty="0">
              <a:solidFill>
                <a:srgbClr val="002060"/>
              </a:solidFill>
              <a:latin typeface="Calibri" panose="020F0502020204030204"/>
              <a:ea typeface="DejaVu Sans" panose="020B0603030804020204"/>
            </a:endParaRPr>
          </a:p>
          <a:p>
            <a:r>
              <a:rPr lang="zh-CN" altLang="en-US" sz="2400" b="1" spc="-1" dirty="0">
                <a:solidFill>
                  <a:srgbClr val="002060"/>
                </a:solidFill>
                <a:latin typeface="Calibri" panose="020F0502020204030204"/>
                <a:ea typeface="DejaVu Sans" panose="020B0603030804020204"/>
              </a:rPr>
              <a:t>monitor the two horizontal piles in front of the machine and estimate their distance,</a:t>
            </a:r>
          </a:p>
          <a:p>
            <a:endParaRPr lang="zh-CN" altLang="en-US" sz="2400" b="1" spc="-1" dirty="0">
              <a:solidFill>
                <a:srgbClr val="002060"/>
              </a:solidFill>
              <a:latin typeface="Calibri" panose="020F0502020204030204"/>
              <a:ea typeface="DejaVu Sans" panose="020B0603030804020204"/>
            </a:endParaRPr>
          </a:p>
          <a:p>
            <a:r>
              <a:rPr lang="zh-CN" altLang="en-US" sz="2400" b="1" spc="-1" dirty="0">
                <a:solidFill>
                  <a:srgbClr val="002060"/>
                </a:solidFill>
                <a:latin typeface="Calibri" panose="020F0502020204030204"/>
                <a:ea typeface="DejaVu Sans" panose="020B0603030804020204"/>
              </a:rPr>
              <a:t>and detect nearby vertical piles, </a:t>
            </a:r>
          </a:p>
          <a:p>
            <a:r>
              <a:rPr lang="zh-CN" altLang="en-US" sz="2400" b="1" spc="-1" dirty="0">
                <a:solidFill>
                  <a:srgbClr val="002060"/>
                </a:solidFill>
                <a:latin typeface="Calibri" panose="020F0502020204030204"/>
                <a:ea typeface="DejaVu Sans" panose="020B0603030804020204"/>
              </a:rPr>
              <a:t>machines, and workers.</a:t>
            </a:r>
            <a:br>
              <a:rPr lang="zh-CN" altLang="en-US" sz="2400" b="1" spc="-1" dirty="0">
                <a:solidFill>
                  <a:srgbClr val="002060"/>
                </a:solidFill>
                <a:latin typeface="Calibri" panose="020F0502020204030204"/>
                <a:ea typeface="DejaVu Sans" panose="020B0603030804020204"/>
              </a:rPr>
            </a:br>
            <a:br>
              <a:rPr lang="zh-CN" altLang="en-US" sz="2400" b="1" spc="-1" dirty="0">
                <a:solidFill>
                  <a:srgbClr val="002060"/>
                </a:solidFill>
                <a:latin typeface="Calibri" panose="020F0502020204030204"/>
                <a:ea typeface="DejaVu Sans" panose="020B0603030804020204"/>
              </a:rPr>
            </a:br>
            <a:br>
              <a:rPr lang="en-US" altLang="zh-CN" sz="2400" b="1" spc="-1" dirty="0">
                <a:solidFill>
                  <a:srgbClr val="002060"/>
                </a:solidFill>
                <a:latin typeface="Calibri" panose="020F0502020204030204"/>
                <a:ea typeface="DejaVu Sans" panose="020B0603030804020204"/>
              </a:rPr>
            </a:br>
            <a:br>
              <a:rPr lang="zh-CN" altLang="en-US" sz="2400" b="1" spc="-1" dirty="0">
                <a:solidFill>
                  <a:srgbClr val="002060"/>
                </a:solidFill>
                <a:latin typeface="Calibri" panose="020F0502020204030204"/>
                <a:ea typeface="DejaVu Sans" panose="020B0603030804020204"/>
              </a:rPr>
            </a:br>
            <a:br>
              <a:rPr lang="en-US" altLang="x-none" sz="2400" b="1" spc="-1" dirty="0">
                <a:solidFill>
                  <a:srgbClr val="002060"/>
                </a:solidFill>
                <a:latin typeface="Calibri" panose="020F0502020204030204"/>
                <a:ea typeface="DejaVu Sans" panose="020B0603030804020204"/>
              </a:rPr>
            </a:br>
            <a:br>
              <a:rPr lang="en-US" altLang="x-none" sz="2400" b="1" spc="-1" dirty="0">
                <a:solidFill>
                  <a:srgbClr val="002060"/>
                </a:solidFill>
                <a:latin typeface="Calibri" panose="020F0502020204030204"/>
                <a:ea typeface="DejaVu Sans" panose="020B0603030804020204"/>
              </a:rPr>
            </a:br>
            <a:r>
              <a:rPr lang="en-US" altLang="x-none" sz="2400" b="1" spc="-1" dirty="0">
                <a:solidFill>
                  <a:srgbClr val="002060"/>
                </a:solidFill>
                <a:latin typeface="Calibri" panose="020F0502020204030204"/>
                <a:ea typeface="DejaVu Sans" panose="020B0603030804020204"/>
              </a:rPr>
              <a:t>                                                                      </a:t>
            </a:r>
          </a:p>
          <a:p>
            <a:r>
              <a:rPr lang="en-US" altLang="x-none" sz="2400" b="1" spc="-1" dirty="0">
                <a:solidFill>
                  <a:srgbClr val="002060"/>
                </a:solidFill>
                <a:latin typeface="Calibri" panose="020F0502020204030204"/>
                <a:ea typeface="DejaVu Sans" panose="020B0603030804020204"/>
              </a:rPr>
              <a:t>                         </a:t>
            </a:r>
          </a:p>
        </p:txBody>
      </p:sp>
      <p:pic>
        <p:nvPicPr>
          <p:cNvPr id="2" name="图片 1" descr="cc9740f1-041b-4ec5-a8f8-1ab60c009a81"/>
          <p:cNvPicPr>
            <a:picLocks noChangeAspect="1"/>
          </p:cNvPicPr>
          <p:nvPr/>
        </p:nvPicPr>
        <p:blipFill>
          <a:blip r:embed="rId3"/>
          <a:stretch>
            <a:fillRect/>
          </a:stretch>
        </p:blipFill>
        <p:spPr>
          <a:xfrm>
            <a:off x="6553200" y="3048000"/>
            <a:ext cx="5196840" cy="3157855"/>
          </a:xfrm>
          <a:prstGeom prst="rect">
            <a:avLst/>
          </a:prstGeom>
        </p:spPr>
      </p:pic>
      <p:sp>
        <p:nvSpPr>
          <p:cNvPr id="4" name="文本框 3"/>
          <p:cNvSpPr txBox="1"/>
          <p:nvPr/>
        </p:nvSpPr>
        <p:spPr>
          <a:xfrm>
            <a:off x="3505200" y="6477000"/>
            <a:ext cx="4064000" cy="368300"/>
          </a:xfrm>
          <a:prstGeom prst="rect">
            <a:avLst/>
          </a:prstGeom>
          <a:noFill/>
        </p:spPr>
        <p:txBody>
          <a:bodyPr wrap="square" rtlCol="0">
            <a:spAutoFit/>
          </a:bodyPr>
          <a:lstStyle/>
          <a:p>
            <a:pPr algn="ctr"/>
            <a:r>
              <a:rPr lang="en-US" altLang="zh-CN"/>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381000"/>
            <a:ext cx="11776710" cy="1144905"/>
          </a:xfrm>
        </p:spPr>
        <p:txBody>
          <a:bodyPr/>
          <a:lstStyle/>
          <a:p>
            <a:r>
              <a:rPr kumimoji="0" lang="en-US" altLang="zh-CN" sz="3600" b="1" i="0" u="none" strike="noStrike" kern="1200" cap="none" normalizeH="0" baseline="0" noProof="1">
                <a:solidFill>
                  <a:srgbClr val="002060"/>
                </a:solidFill>
                <a:latin typeface="Calibri" panose="020F0502020204030204"/>
                <a:ea typeface="DejaVu Sans" panose="020B0603030804020204"/>
                <a:cs typeface="+mn-cs"/>
              </a:rPr>
              <a:t>Phase 1 (Data &amp; Annotation Preparation)</a:t>
            </a:r>
          </a:p>
        </p:txBody>
      </p:sp>
      <p:sp>
        <p:nvSpPr>
          <p:cNvPr id="3" name="副标题 2"/>
          <p:cNvSpPr>
            <a:spLocks noGrp="1"/>
          </p:cNvSpPr>
          <p:nvPr>
            <p:ph type="subTitle"/>
          </p:nvPr>
        </p:nvSpPr>
        <p:spPr>
          <a:xfrm>
            <a:off x="609600" y="1447800"/>
            <a:ext cx="4921885" cy="2592705"/>
          </a:xfrm>
        </p:spPr>
        <p:txBody>
          <a:bodyPr>
            <a:normAutofit/>
          </a:bodyPr>
          <a:lstStyle/>
          <a:p>
            <a:pPr marL="0" marR="0" algn="l" rtl="0" eaLnBrk="1" fontAlgn="auto" latinLnBrk="0" hangingPunct="1">
              <a:buClrTx/>
              <a:buSzTx/>
              <a:buFontTx/>
              <a:buNone/>
            </a:pPr>
            <a:r>
              <a:rPr kumimoji="0" lang="en-US" altLang="zh-CN" sz="3200" b="1" i="0" u="none" strike="noStrike" kern="1200" cap="none" spc="0" normalizeH="0" baseline="0" noProof="1">
                <a:solidFill>
                  <a:srgbClr val="002060"/>
                </a:solidFill>
                <a:latin typeface="Calibri" panose="020F0502020204030204"/>
                <a:ea typeface="DejaVu Sans" panose="020B0603030804020204"/>
                <a:cs typeface="+mn-cs"/>
                <a:sym typeface="+mn-ea"/>
              </a:rPr>
              <a:t>1. Data Processing</a:t>
            </a:r>
          </a:p>
          <a:p>
            <a:pPr marL="0" marR="0" algn="l" defTabSz="914400" rtl="0" eaLnBrk="1" fontAlgn="auto" latinLnBrk="0" hangingPunct="1">
              <a:buClrTx/>
              <a:buSzTx/>
              <a:buNone/>
            </a:pPr>
            <a:r>
              <a:rPr kumimoji="0" lang="en-US" altLang="x-none" sz="1800" b="1" i="0" u="none" strike="noStrike" kern="1200" cap="none" spc="0" normalizeH="0" baseline="0" noProof="1">
                <a:solidFill>
                  <a:srgbClr val="002060"/>
                </a:solidFill>
                <a:latin typeface="Calibri" panose="020F0502020204030204"/>
                <a:ea typeface="DejaVu Sans" panose="020B0603030804020204"/>
                <a:cs typeface="+mn-cs"/>
                <a:sym typeface="+mn-ea"/>
              </a:rPr>
              <a:t>Extract frames in 0.5FPS from Xpanner datase</a:t>
            </a:r>
          </a:p>
          <a:p>
            <a:pPr marL="0" marR="0" algn="l" defTabSz="914400" rtl="0" eaLnBrk="1" fontAlgn="auto" latinLnBrk="0" hangingPunct="1">
              <a:buClrTx/>
              <a:buSzTx/>
              <a:buNone/>
            </a:pPr>
            <a:r>
              <a:rPr kumimoji="0" lang="en-US" altLang="x-none" sz="1800" b="1" i="0" u="none" strike="noStrike" kern="1200" cap="none" spc="0" normalizeH="0" baseline="0" noProof="1">
                <a:solidFill>
                  <a:srgbClr val="002060"/>
                </a:solidFill>
                <a:latin typeface="Calibri" panose="020F0502020204030204"/>
                <a:ea typeface="DejaVu Sans" panose="020B0603030804020204"/>
                <a:cs typeface="+mn-cs"/>
                <a:sym typeface="+mn-ea"/>
              </a:rPr>
              <a:t>Synchronize camera and 4D radar data</a:t>
            </a:r>
          </a:p>
          <a:p>
            <a:pPr marL="0" marR="0" algn="l" defTabSz="914400" rtl="0" eaLnBrk="1" fontAlgn="auto" latinLnBrk="0" hangingPunct="1">
              <a:buClrTx/>
              <a:buSzTx/>
              <a:buNone/>
            </a:pPr>
            <a:r>
              <a:rPr kumimoji="0" lang="en-US" altLang="x-none" sz="1800" b="1" i="0" u="none" strike="noStrike" kern="1200" cap="none" spc="0" normalizeH="0" baseline="0" noProof="1">
                <a:solidFill>
                  <a:srgbClr val="002060"/>
                </a:solidFill>
                <a:latin typeface="Calibri" panose="020F0502020204030204"/>
                <a:ea typeface="DejaVu Sans" panose="020B0603030804020204"/>
                <a:cs typeface="+mn-cs"/>
                <a:sym typeface="+mn-ea"/>
              </a:rPr>
              <a:t>Organize images, radar point clouds, and calibration</a:t>
            </a:r>
            <a:endParaRPr kumimoji="0" lang="en-US" altLang="zh-CN" sz="3200" b="1" i="0" u="none" strike="noStrike" kern="1200" cap="none" spc="0" normalizeH="0" baseline="0" noProof="1">
              <a:solidFill>
                <a:srgbClr val="002060"/>
              </a:solidFill>
              <a:latin typeface="Calibri" panose="020F0502020204030204"/>
              <a:ea typeface="DejaVu Sans" panose="020B0603030804020204"/>
              <a:cs typeface="+mn-cs"/>
              <a:sym typeface="+mn-ea"/>
            </a:endParaRPr>
          </a:p>
          <a:p>
            <a:endParaRPr kumimoji="0" lang="en-US" altLang="zh-CN" sz="3200" b="1" i="0" u="none" strike="noStrike" kern="1200" cap="none" spc="0" normalizeH="0" baseline="0" noProof="1">
              <a:solidFill>
                <a:srgbClr val="002060"/>
              </a:solidFill>
              <a:latin typeface="Calibri" panose="020F0502020204030204"/>
              <a:ea typeface="DejaVu Sans" panose="020B0603030804020204"/>
              <a:cs typeface="+mn-cs"/>
              <a:sym typeface="+mn-ea"/>
            </a:endParaRPr>
          </a:p>
          <a:p>
            <a:r>
              <a:rPr kumimoji="0" lang="en-US" altLang="zh-CN" sz="3200" b="1" i="0" u="none" strike="noStrike" kern="1200" cap="none" spc="0" normalizeH="0" baseline="0" noProof="1">
                <a:solidFill>
                  <a:srgbClr val="002060"/>
                </a:solidFill>
                <a:latin typeface="Calibri" panose="020F0502020204030204"/>
                <a:ea typeface="DejaVu Sans" panose="020B0603030804020204"/>
                <a:cs typeface="+mn-cs"/>
                <a:sym typeface="+mn-ea"/>
              </a:rPr>
              <a:t>2. 2D Annotation (Camera)</a:t>
            </a:r>
            <a:endParaRPr kumimoji="0" lang="en-US" altLang="x-none" sz="1800" b="1" i="0" u="none" strike="noStrike" kern="1200" cap="none" spc="0" normalizeH="0" baseline="0" noProof="1">
              <a:solidFill>
                <a:srgbClr val="002060"/>
              </a:solidFill>
              <a:latin typeface="Calibri" panose="020F0502020204030204"/>
              <a:ea typeface="DejaVu Sans" panose="020B0603030804020204"/>
              <a:cs typeface="+mn-cs"/>
              <a:sym typeface="+mn-ea"/>
            </a:endParaRPr>
          </a:p>
          <a:p>
            <a:r>
              <a:rPr kumimoji="0" lang="en-US" altLang="x-none" sz="1800" b="1" i="0" u="none" strike="noStrike" kern="1200" cap="none" spc="0" normalizeH="0" baseline="0" noProof="1">
                <a:solidFill>
                  <a:srgbClr val="002060"/>
                </a:solidFill>
                <a:latin typeface="Calibri" panose="020F0502020204030204"/>
                <a:ea typeface="DejaVu Sans" panose="020B0603030804020204"/>
                <a:cs typeface="+mn-cs"/>
                <a:sym typeface="+mn-ea"/>
              </a:rPr>
              <a:t>Use Roboflow to annotate pile, worker, machine </a:t>
            </a:r>
          </a:p>
          <a:p>
            <a:endParaRPr kumimoji="0" lang="en-US" altLang="x-none" sz="2400" b="1" i="0" u="none" strike="noStrike" kern="1200" cap="none" normalizeH="0" baseline="0" noProof="1">
              <a:solidFill>
                <a:srgbClr val="002060"/>
              </a:solidFill>
              <a:latin typeface="Calibri" panose="020F0502020204030204"/>
              <a:ea typeface="DejaVu Sans" panose="020B0603030804020204"/>
              <a:cs typeface="+mn-cs"/>
              <a:sym typeface="+mn-ea"/>
            </a:endParaRPr>
          </a:p>
          <a:p>
            <a:pPr marL="0" marR="0" algn="l" rtl="0" eaLnBrk="1" fontAlgn="auto" latinLnBrk="0" hangingPunct="1">
              <a:buClrTx/>
              <a:buSzTx/>
              <a:buFontTx/>
              <a:buNone/>
            </a:pPr>
            <a:endParaRPr kumimoji="0" lang="en-US" altLang="zh-CN" sz="3200" b="1" i="0" u="none" strike="noStrike" kern="1200" cap="none" spc="0" normalizeH="0" baseline="0" noProof="1">
              <a:solidFill>
                <a:srgbClr val="002060"/>
              </a:solidFill>
              <a:latin typeface="Calibri" panose="020F0502020204030204"/>
              <a:ea typeface="DejaVu Sans" panose="020B0603030804020204"/>
              <a:cs typeface="+mn-cs"/>
            </a:endParaRPr>
          </a:p>
          <a:p>
            <a:endParaRPr kumimoji="0" lang="en-US" altLang="x-none" sz="2400" b="1" i="0" u="none" strike="noStrike" kern="1200" cap="none" normalizeH="0" baseline="0" noProof="1">
              <a:solidFill>
                <a:srgbClr val="002060"/>
              </a:solidFill>
              <a:latin typeface="Calibri" panose="020F0502020204030204"/>
              <a:ea typeface="DejaVu Sans" panose="020B0603030804020204"/>
              <a:cs typeface="+mn-cs"/>
            </a:endParaRPr>
          </a:p>
        </p:txBody>
      </p:sp>
      <p:sp>
        <p:nvSpPr>
          <p:cNvPr id="4" name="文本框 3"/>
          <p:cNvSpPr txBox="1"/>
          <p:nvPr/>
        </p:nvSpPr>
        <p:spPr>
          <a:xfrm>
            <a:off x="6096000" y="1367155"/>
            <a:ext cx="5512435" cy="4184650"/>
          </a:xfrm>
          <a:prstGeom prst="rect">
            <a:avLst/>
          </a:prstGeom>
          <a:noFill/>
        </p:spPr>
        <p:txBody>
          <a:bodyPr wrap="square" rtlCol="0">
            <a:spAutoFit/>
          </a:bodyPr>
          <a:lstStyle/>
          <a:p>
            <a:r>
              <a:rPr lang="en-US" altLang="x-none" sz="3200" b="1" dirty="0">
                <a:solidFill>
                  <a:srgbClr val="002060"/>
                </a:solidFill>
                <a:latin typeface="Calibri" panose="020F0502020204030204"/>
                <a:ea typeface="DejaVu Sans" panose="020B0603030804020204"/>
                <a:sym typeface="+mn-ea"/>
              </a:rPr>
              <a:t>3. 3D Annotation (LiDAR)</a:t>
            </a:r>
            <a:endParaRPr kumimoji="0" lang="en-US" altLang="x-none" sz="3200" b="1" i="0" u="none" strike="noStrike" kern="1200" cap="none" normalizeH="0" baseline="0" noProof="1">
              <a:solidFill>
                <a:srgbClr val="002060"/>
              </a:solidFill>
              <a:latin typeface="Calibri" panose="020F0502020204030204"/>
              <a:ea typeface="DejaVu Sans" panose="020B0603030804020204"/>
              <a:cs typeface="+mn-cs"/>
              <a:sym typeface="+mn-ea"/>
            </a:endParaRPr>
          </a:p>
          <a:p>
            <a:endParaRPr kumimoji="0" lang="en-US" altLang="x-none" b="1" i="0" u="none" strike="noStrike" kern="1200" cap="none" normalizeH="0" baseline="0" noProof="1">
              <a:solidFill>
                <a:srgbClr val="002060"/>
              </a:solidFill>
              <a:latin typeface="Calibri" panose="020F0502020204030204"/>
              <a:ea typeface="DejaVu Sans" panose="020B0603030804020204"/>
              <a:cs typeface="+mn-cs"/>
              <a:sym typeface="+mn-ea"/>
            </a:endParaRPr>
          </a:p>
          <a:p>
            <a:pPr algn="l">
              <a:buClrTx/>
              <a:buSzTx/>
              <a:buNone/>
            </a:pPr>
            <a:r>
              <a:rPr lang="en-US" altLang="x-none" b="1" dirty="0">
                <a:solidFill>
                  <a:srgbClr val="002060"/>
                </a:solidFill>
                <a:latin typeface="Calibri" panose="020F0502020204030204"/>
                <a:ea typeface="DejaVu Sans" panose="020B0603030804020204"/>
                <a:sym typeface="+mn-ea"/>
              </a:rPr>
              <a:t>Use LiDAR point clouds</a:t>
            </a:r>
            <a:endParaRPr kumimoji="0" lang="en-US" altLang="x-none" b="1" i="0" u="none" strike="noStrike" kern="1200" cap="none" normalizeH="0" baseline="0" noProof="1">
              <a:solidFill>
                <a:srgbClr val="002060"/>
              </a:solidFill>
              <a:latin typeface="Calibri" panose="020F0502020204030204"/>
              <a:ea typeface="DejaVu Sans" panose="020B0603030804020204"/>
              <a:cs typeface="+mn-cs"/>
              <a:sym typeface="+mn-ea"/>
            </a:endParaRPr>
          </a:p>
          <a:p>
            <a:pPr algn="l">
              <a:buClrTx/>
              <a:buSzTx/>
              <a:buNone/>
            </a:pPr>
            <a:r>
              <a:rPr lang="en-US" altLang="x-none" b="1" dirty="0">
                <a:solidFill>
                  <a:srgbClr val="002060"/>
                </a:solidFill>
                <a:latin typeface="Calibri" panose="020F0502020204030204"/>
                <a:ea typeface="DejaVu Sans" panose="020B0603030804020204"/>
                <a:sym typeface="+mn-ea"/>
              </a:rPr>
              <a:t>Apply clustering to generate 3D bounding boxes</a:t>
            </a:r>
            <a:endParaRPr kumimoji="0" lang="en-US" altLang="x-none" b="1" i="0" u="none" strike="noStrike" kern="1200" cap="none" normalizeH="0" baseline="0" noProof="1">
              <a:solidFill>
                <a:srgbClr val="002060"/>
              </a:solidFill>
              <a:latin typeface="Calibri" panose="020F0502020204030204"/>
              <a:ea typeface="DejaVu Sans" panose="020B0603030804020204"/>
              <a:cs typeface="+mn-cs"/>
              <a:sym typeface="+mn-ea"/>
            </a:endParaRPr>
          </a:p>
          <a:p>
            <a:pPr algn="l">
              <a:buClrTx/>
              <a:buSzTx/>
              <a:buNone/>
            </a:pPr>
            <a:endParaRPr lang="en-US" altLang="x-none" sz="3600" b="1" dirty="0">
              <a:solidFill>
                <a:srgbClr val="002060"/>
              </a:solidFill>
              <a:latin typeface="Calibri" panose="020F0502020204030204"/>
              <a:ea typeface="DejaVu Sans" panose="020B0603030804020204"/>
              <a:sym typeface="+mn-ea"/>
            </a:endParaRPr>
          </a:p>
          <a:p>
            <a:pPr algn="l">
              <a:buClrTx/>
              <a:buSzTx/>
              <a:buNone/>
            </a:pPr>
            <a:r>
              <a:rPr lang="en-US" altLang="x-none" sz="3600" b="1" dirty="0">
                <a:solidFill>
                  <a:srgbClr val="002060"/>
                </a:solidFill>
                <a:latin typeface="Calibri" panose="020F0502020204030204"/>
                <a:ea typeface="DejaVu Sans" panose="020B0603030804020204"/>
                <a:sym typeface="+mn-ea"/>
              </a:rPr>
              <a:t>4. Merge Annotation</a:t>
            </a:r>
            <a:endParaRPr kumimoji="0" lang="en-US" altLang="x-none" sz="3600" b="1" i="0" u="none" strike="noStrike" kern="1200" cap="none" normalizeH="0" baseline="0" noProof="1">
              <a:solidFill>
                <a:srgbClr val="002060"/>
              </a:solidFill>
              <a:latin typeface="Calibri" panose="020F0502020204030204"/>
              <a:ea typeface="DejaVu Sans" panose="020B0603030804020204"/>
              <a:cs typeface="+mn-cs"/>
              <a:sym typeface="+mn-ea"/>
            </a:endParaRPr>
          </a:p>
          <a:p>
            <a:endParaRPr kumimoji="0" lang="en-US" altLang="x-none" b="1" i="0" u="none" strike="noStrike" kern="1200" cap="none" normalizeH="0" baseline="0" noProof="1">
              <a:solidFill>
                <a:srgbClr val="002060"/>
              </a:solidFill>
              <a:latin typeface="Calibri" panose="020F0502020204030204"/>
              <a:ea typeface="DejaVu Sans" panose="020B0603030804020204"/>
              <a:cs typeface="+mn-cs"/>
              <a:sym typeface="+mn-ea"/>
            </a:endParaRPr>
          </a:p>
          <a:p>
            <a:r>
              <a:rPr lang="en-US" altLang="x-none" b="1" dirty="0">
                <a:solidFill>
                  <a:srgbClr val="002060"/>
                </a:solidFill>
                <a:latin typeface="Calibri" panose="020F0502020204030204"/>
                <a:ea typeface="DejaVu Sans" panose="020B0603030804020204"/>
                <a:sym typeface="+mn-ea"/>
              </a:rPr>
              <a:t>Align 2D boxes and 3D boxes</a:t>
            </a:r>
            <a:br>
              <a:rPr lang="en-US" altLang="x-none" b="1" dirty="0">
                <a:solidFill>
                  <a:srgbClr val="002060"/>
                </a:solidFill>
                <a:latin typeface="Calibri" panose="020F0502020204030204"/>
                <a:ea typeface="DejaVu Sans" panose="020B0603030804020204"/>
                <a:sym typeface="+mn-ea"/>
              </a:rPr>
            </a:br>
            <a:r>
              <a:rPr lang="en-US" altLang="x-none" b="1" dirty="0">
                <a:solidFill>
                  <a:srgbClr val="002060"/>
                </a:solidFill>
                <a:latin typeface="Calibri" panose="020F0502020204030204"/>
                <a:ea typeface="DejaVu Sans" panose="020B0603030804020204"/>
                <a:sym typeface="+mn-ea"/>
              </a:rPr>
              <a:t>verify major errors</a:t>
            </a:r>
            <a:endParaRPr kumimoji="0" lang="en-US" altLang="x-none" b="1" i="0" u="none" strike="noStrike" kern="1200" cap="none" normalizeH="0" baseline="0" noProof="1">
              <a:solidFill>
                <a:srgbClr val="002060"/>
              </a:solidFill>
              <a:latin typeface="Calibri" panose="020F0502020204030204"/>
              <a:ea typeface="DejaVu Sans" panose="020B0603030804020204"/>
              <a:cs typeface="+mn-cs"/>
              <a:sym typeface="+mn-ea"/>
            </a:endParaRPr>
          </a:p>
          <a:p>
            <a:r>
              <a:rPr lang="en-US" altLang="x-none" b="1" dirty="0">
                <a:solidFill>
                  <a:srgbClr val="002060"/>
                </a:solidFill>
                <a:latin typeface="Calibri" panose="020F0502020204030204"/>
                <a:ea typeface="DejaVu Sans" panose="020B0603030804020204"/>
                <a:sym typeface="+mn-ea"/>
              </a:rPr>
              <a:t>Match corresponding objects</a:t>
            </a:r>
            <a:br>
              <a:rPr lang="en-US" altLang="x-none" b="1" dirty="0">
                <a:solidFill>
                  <a:srgbClr val="002060"/>
                </a:solidFill>
                <a:latin typeface="Calibri" panose="020F0502020204030204"/>
                <a:ea typeface="DejaVu Sans" panose="020B0603030804020204"/>
                <a:sym typeface="+mn-ea"/>
              </a:rPr>
            </a:br>
            <a:r>
              <a:rPr lang="en-US" altLang="x-none" b="1" dirty="0">
                <a:solidFill>
                  <a:srgbClr val="002060"/>
                </a:solidFill>
                <a:latin typeface="Calibri" panose="020F0502020204030204"/>
                <a:ea typeface="DejaVu Sans" panose="020B0603030804020204"/>
                <a:sym typeface="+mn-ea"/>
              </a:rPr>
              <a:t>Create unified training pairs for fusion models</a:t>
            </a:r>
            <a:endParaRPr kumimoji="0" lang="en-US" altLang="x-none" b="1" i="0" u="none" strike="noStrike" kern="1200" cap="none" normalizeH="0" baseline="0" noProof="1">
              <a:solidFill>
                <a:srgbClr val="002060"/>
              </a:solidFill>
              <a:latin typeface="Calibri" panose="020F0502020204030204"/>
              <a:ea typeface="DejaVu Sans" panose="020B0603030804020204"/>
              <a:cs typeface="+mn-cs"/>
              <a:sym typeface="+mn-ea"/>
            </a:endParaRPr>
          </a:p>
          <a:p>
            <a:endParaRPr lang="zh-CN" altLang="en-US"/>
          </a:p>
        </p:txBody>
      </p:sp>
      <p:sp>
        <p:nvSpPr>
          <p:cNvPr id="5" name="文本框 4"/>
          <p:cNvSpPr txBox="1"/>
          <p:nvPr/>
        </p:nvSpPr>
        <p:spPr>
          <a:xfrm>
            <a:off x="3810000" y="6477000"/>
            <a:ext cx="4064000" cy="368300"/>
          </a:xfrm>
          <a:prstGeom prst="rect">
            <a:avLst/>
          </a:prstGeom>
          <a:noFill/>
        </p:spPr>
        <p:txBody>
          <a:bodyPr wrap="square" rtlCol="0">
            <a:spAutoFit/>
          </a:bodyPr>
          <a:lstStyle/>
          <a:p>
            <a:pPr algn="ctr"/>
            <a:r>
              <a:rPr lang="en-US" altLang="zh-CN"/>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 y="457200"/>
            <a:ext cx="10972165" cy="796925"/>
          </a:xfrm>
        </p:spPr>
        <p:txBody>
          <a:bodyPr/>
          <a:lstStyle/>
          <a:p>
            <a:r>
              <a:rPr kumimoji="0" lang="en-US" altLang="zh-CN" sz="3600" b="1" i="0" u="none" strike="noStrike" kern="1200" cap="none" normalizeH="0" baseline="0" noProof="1">
                <a:solidFill>
                  <a:srgbClr val="002060"/>
                </a:solidFill>
                <a:latin typeface="Calibri" panose="020F0502020204030204"/>
                <a:ea typeface="DejaVu Sans" panose="020B0603030804020204"/>
                <a:cs typeface="+mn-cs"/>
                <a:sym typeface="+mn-ea"/>
              </a:rPr>
              <a:t>Phase 2: </a:t>
            </a:r>
            <a:r>
              <a:rPr lang="en-US" altLang="zh-CN" sz="3600" b="1" dirty="0">
                <a:solidFill>
                  <a:srgbClr val="002060"/>
                </a:solidFill>
                <a:latin typeface="Calibri" panose="020F0502020204030204"/>
                <a:ea typeface="DejaVu Sans" panose="020B0603030804020204"/>
                <a:sym typeface="+mn-ea"/>
              </a:rPr>
              <a:t>2D Detection Module</a:t>
            </a:r>
          </a:p>
        </p:txBody>
      </p:sp>
      <p:sp>
        <p:nvSpPr>
          <p:cNvPr id="6" name="文本框 5"/>
          <p:cNvSpPr txBox="1"/>
          <p:nvPr/>
        </p:nvSpPr>
        <p:spPr>
          <a:xfrm>
            <a:off x="3048000" y="2967990"/>
            <a:ext cx="6096000" cy="368300"/>
          </a:xfrm>
          <a:prstGeom prst="rect">
            <a:avLst/>
          </a:prstGeom>
          <a:noFill/>
        </p:spPr>
        <p:txBody>
          <a:bodyPr wrap="square" rtlCol="0" anchor="t">
            <a:spAutoFit/>
          </a:bodyPr>
          <a:lstStyle/>
          <a:p>
            <a:r>
              <a:rPr lang="zh-CN" altLang="en-US"/>
              <a:t>。</a:t>
            </a:r>
          </a:p>
        </p:txBody>
      </p:sp>
      <p:sp>
        <p:nvSpPr>
          <p:cNvPr id="3" name="文本框 2"/>
          <p:cNvSpPr txBox="1"/>
          <p:nvPr/>
        </p:nvSpPr>
        <p:spPr>
          <a:xfrm>
            <a:off x="4114800" y="6477000"/>
            <a:ext cx="4064000" cy="368300"/>
          </a:xfrm>
          <a:prstGeom prst="rect">
            <a:avLst/>
          </a:prstGeom>
          <a:noFill/>
        </p:spPr>
        <p:txBody>
          <a:bodyPr wrap="square" rtlCol="0">
            <a:spAutoFit/>
          </a:bodyPr>
          <a:lstStyle/>
          <a:p>
            <a:pPr algn="ctr"/>
            <a:r>
              <a:rPr lang="en-US" altLang="zh-CN"/>
              <a:t>3</a:t>
            </a:r>
          </a:p>
        </p:txBody>
      </p:sp>
      <p:sp>
        <p:nvSpPr>
          <p:cNvPr id="4" name="文本框 3"/>
          <p:cNvSpPr txBox="1"/>
          <p:nvPr/>
        </p:nvSpPr>
        <p:spPr>
          <a:xfrm>
            <a:off x="304800" y="1295400"/>
            <a:ext cx="5154930" cy="4523105"/>
          </a:xfrm>
          <a:prstGeom prst="rect">
            <a:avLst/>
          </a:prstGeom>
          <a:noFill/>
        </p:spPr>
        <p:txBody>
          <a:bodyPr wrap="square" rtlCol="0">
            <a:spAutoFit/>
          </a:bodyPr>
          <a:lstStyle/>
          <a:p>
            <a:r>
              <a:rPr lang="en-US" altLang="zh-CN" sz="2400" b="1" kern="0" dirty="0">
                <a:solidFill>
                  <a:srgbClr val="002060"/>
                </a:solidFill>
                <a:latin typeface="Calibri" panose="020F0502020204030204"/>
                <a:ea typeface="DejaVu Sans" panose="020B0603030804020204"/>
                <a:cs typeface="+mn-ea"/>
              </a:rPr>
              <a:t>total labeled images amout: 4226</a:t>
            </a:r>
            <a:br>
              <a:rPr lang="en-US" altLang="zh-CN" sz="2400" b="1" kern="0" dirty="0">
                <a:solidFill>
                  <a:srgbClr val="002060"/>
                </a:solidFill>
                <a:latin typeface="Calibri" panose="020F0502020204030204"/>
                <a:ea typeface="DejaVu Sans" panose="020B0603030804020204"/>
                <a:cs typeface="+mn-ea"/>
              </a:rPr>
            </a:br>
            <a:r>
              <a:rPr lang="en-US" altLang="zh-CN" sz="2400" b="1" kern="0" dirty="0">
                <a:solidFill>
                  <a:srgbClr val="002060"/>
                </a:solidFill>
                <a:latin typeface="Calibri" panose="020F0502020204030204"/>
                <a:ea typeface="DejaVu Sans" panose="020B0603030804020204"/>
                <a:cs typeface="+mn-ea"/>
              </a:rPr>
              <a:t>split:</a:t>
            </a:r>
            <a:br>
              <a:rPr lang="en-US" altLang="zh-CN" sz="2400" b="1" kern="0" dirty="0">
                <a:solidFill>
                  <a:srgbClr val="002060"/>
                </a:solidFill>
                <a:latin typeface="Calibri" panose="020F0502020204030204"/>
                <a:ea typeface="DejaVu Sans" panose="020B0603030804020204"/>
                <a:cs typeface="+mn-ea"/>
              </a:rPr>
            </a:br>
            <a:r>
              <a:rPr lang="en-US" altLang="zh-CN" sz="2400" b="1" kern="0" dirty="0">
                <a:solidFill>
                  <a:srgbClr val="002060"/>
                </a:solidFill>
                <a:latin typeface="Calibri" panose="020F0502020204030204"/>
                <a:ea typeface="DejaVu Sans" panose="020B0603030804020204"/>
                <a:cs typeface="+mn-ea"/>
              </a:rPr>
              <a:t>  Train:3380,80%</a:t>
            </a:r>
            <a:br>
              <a:rPr lang="en-US" altLang="zh-CN" sz="2400" b="1" kern="0" dirty="0">
                <a:solidFill>
                  <a:srgbClr val="002060"/>
                </a:solidFill>
                <a:latin typeface="Calibri" panose="020F0502020204030204"/>
                <a:ea typeface="DejaVu Sans" panose="020B0603030804020204"/>
                <a:cs typeface="+mn-ea"/>
              </a:rPr>
            </a:br>
            <a:r>
              <a:rPr lang="en-US" altLang="zh-CN" sz="2400" b="1" kern="0" dirty="0">
                <a:solidFill>
                  <a:srgbClr val="002060"/>
                </a:solidFill>
                <a:latin typeface="Calibri" panose="020F0502020204030204"/>
                <a:ea typeface="DejaVu Sans" panose="020B0603030804020204"/>
                <a:cs typeface="+mn-ea"/>
              </a:rPr>
              <a:t>  Val:445,10%</a:t>
            </a:r>
            <a:br>
              <a:rPr lang="en-US" altLang="zh-CN" sz="2400" b="1" kern="0" dirty="0">
                <a:solidFill>
                  <a:srgbClr val="002060"/>
                </a:solidFill>
                <a:latin typeface="Calibri" panose="020F0502020204030204"/>
                <a:ea typeface="DejaVu Sans" panose="020B0603030804020204"/>
                <a:cs typeface="+mn-ea"/>
              </a:rPr>
            </a:br>
            <a:r>
              <a:rPr lang="en-US" altLang="zh-CN" sz="2400" b="1" kern="0" dirty="0">
                <a:solidFill>
                  <a:srgbClr val="002060"/>
                </a:solidFill>
                <a:latin typeface="Calibri" panose="020F0502020204030204"/>
                <a:ea typeface="DejaVu Sans" panose="020B0603030804020204"/>
                <a:cs typeface="+mn-ea"/>
              </a:rPr>
              <a:t>  test:401,10%</a:t>
            </a:r>
            <a:br>
              <a:rPr lang="en-US" altLang="zh-CN" sz="2400" b="1" kern="0" dirty="0">
                <a:solidFill>
                  <a:srgbClr val="002060"/>
                </a:solidFill>
                <a:latin typeface="Calibri" panose="020F0502020204030204"/>
                <a:ea typeface="DejaVu Sans" panose="020B0603030804020204"/>
                <a:cs typeface="+mn-ea"/>
              </a:rPr>
            </a:br>
            <a:br>
              <a:rPr lang="en-US" altLang="zh-CN" sz="2400" b="1" kern="0" dirty="0">
                <a:solidFill>
                  <a:srgbClr val="002060"/>
                </a:solidFill>
                <a:latin typeface="Calibri" panose="020F0502020204030204"/>
                <a:ea typeface="DejaVu Sans" panose="020B0603030804020204"/>
                <a:cs typeface="+mn-ea"/>
              </a:rPr>
            </a:br>
            <a:r>
              <a:rPr lang="en-US" altLang="zh-CN" sz="2400" b="1" kern="0" dirty="0">
                <a:solidFill>
                  <a:srgbClr val="002060"/>
                </a:solidFill>
                <a:latin typeface="Calibri" panose="020F0502020204030204"/>
                <a:ea typeface="DejaVu Sans" panose="020B0603030804020204"/>
                <a:cs typeface="+mn-ea"/>
              </a:rPr>
              <a:t>Training:</a:t>
            </a:r>
            <a:br>
              <a:rPr lang="en-US" altLang="zh-CN" sz="2400" b="1" kern="0" dirty="0">
                <a:solidFill>
                  <a:srgbClr val="002060"/>
                </a:solidFill>
                <a:latin typeface="Calibri" panose="020F0502020204030204"/>
                <a:ea typeface="DejaVu Sans" panose="020B0603030804020204"/>
                <a:cs typeface="+mn-ea"/>
              </a:rPr>
            </a:br>
            <a:r>
              <a:rPr lang="en-US" altLang="zh-CN" sz="2400" b="1" kern="0" dirty="0">
                <a:solidFill>
                  <a:srgbClr val="002060"/>
                </a:solidFill>
                <a:latin typeface="Calibri" panose="020F0502020204030204"/>
                <a:ea typeface="DejaVu Sans" panose="020B0603030804020204"/>
                <a:cs typeface="+mn-ea"/>
              </a:rPr>
              <a:t>Model:YOLOv8</a:t>
            </a:r>
            <a:br>
              <a:rPr lang="en-US" altLang="zh-CN" sz="2400" b="1" kern="0" dirty="0">
                <a:solidFill>
                  <a:srgbClr val="002060"/>
                </a:solidFill>
                <a:latin typeface="Calibri" panose="020F0502020204030204"/>
                <a:ea typeface="DejaVu Sans" panose="020B0603030804020204"/>
                <a:cs typeface="+mn-ea"/>
              </a:rPr>
            </a:br>
            <a:r>
              <a:rPr lang="en-US" altLang="zh-CN" sz="2400" b="1" kern="0" dirty="0">
                <a:solidFill>
                  <a:srgbClr val="002060"/>
                </a:solidFill>
                <a:latin typeface="Calibri" panose="020F0502020204030204"/>
                <a:ea typeface="DejaVu Sans" panose="020B0603030804020204"/>
                <a:cs typeface="+mn-ea"/>
              </a:rPr>
              <a:t>Input size:960</a:t>
            </a:r>
            <a:br>
              <a:rPr lang="en-US" altLang="zh-CN" sz="2400" b="1" kern="0" dirty="0">
                <a:solidFill>
                  <a:srgbClr val="002060"/>
                </a:solidFill>
                <a:latin typeface="Calibri" panose="020F0502020204030204"/>
                <a:ea typeface="DejaVu Sans" panose="020B0603030804020204"/>
                <a:cs typeface="+mn-ea"/>
              </a:rPr>
            </a:br>
            <a:r>
              <a:rPr lang="en-US" altLang="zh-CN" sz="2400" b="1" kern="0" dirty="0">
                <a:solidFill>
                  <a:srgbClr val="002060"/>
                </a:solidFill>
                <a:latin typeface="Calibri" panose="020F0502020204030204"/>
                <a:ea typeface="DejaVu Sans" panose="020B0603030804020204"/>
                <a:cs typeface="+mn-ea"/>
              </a:rPr>
              <a:t>Epochs/Batch:60/16</a:t>
            </a:r>
            <a:br>
              <a:rPr lang="en-US" altLang="zh-CN" sz="2400" b="1" kern="0" dirty="0">
                <a:solidFill>
                  <a:srgbClr val="002060"/>
                </a:solidFill>
                <a:latin typeface="Calibri" panose="020F0502020204030204"/>
                <a:ea typeface="DejaVu Sans" panose="020B0603030804020204"/>
                <a:cs typeface="+mn-ea"/>
              </a:rPr>
            </a:br>
            <a:br>
              <a:rPr lang="en-US" altLang="zh-CN" sz="2400" b="1" kern="0" dirty="0">
                <a:solidFill>
                  <a:srgbClr val="002060"/>
                </a:solidFill>
                <a:latin typeface="Calibri" panose="020F0502020204030204"/>
                <a:ea typeface="DejaVu Sans" panose="020B0603030804020204"/>
                <a:cs typeface="+mn-ea"/>
              </a:rPr>
            </a:br>
            <a:endParaRPr lang="en-US" altLang="zh-CN" sz="2400" b="1" kern="0" dirty="0">
              <a:solidFill>
                <a:srgbClr val="002060"/>
              </a:solidFill>
              <a:latin typeface="Calibri" panose="020F0502020204030204"/>
              <a:ea typeface="DejaVu Sans" panose="020B0603030804020204"/>
              <a:cs typeface="+mn-ea"/>
            </a:endParaRPr>
          </a:p>
        </p:txBody>
      </p:sp>
      <p:sp>
        <p:nvSpPr>
          <p:cNvPr id="8" name="文本框 7"/>
          <p:cNvSpPr txBox="1"/>
          <p:nvPr>
            <p:custDataLst>
              <p:tags r:id="rId1"/>
            </p:custDataLst>
          </p:nvPr>
        </p:nvSpPr>
        <p:spPr>
          <a:xfrm>
            <a:off x="5080000" y="1295400"/>
            <a:ext cx="4064000" cy="1938020"/>
          </a:xfrm>
          <a:prstGeom prst="rect">
            <a:avLst/>
          </a:prstGeom>
          <a:noFill/>
        </p:spPr>
        <p:txBody>
          <a:bodyPr wrap="square" rtlCol="0">
            <a:spAutoFit/>
          </a:bodyPr>
          <a:lstStyle/>
          <a:p>
            <a:pPr algn="l">
              <a:buClrTx/>
              <a:buSzTx/>
              <a:buFontTx/>
            </a:pPr>
            <a:r>
              <a:rPr lang="en-US" altLang="zh-CN" sz="2400" b="1" dirty="0">
                <a:solidFill>
                  <a:srgbClr val="002060"/>
                </a:solidFill>
                <a:latin typeface="Calibri" panose="020F0502020204030204"/>
                <a:ea typeface="DejaVu Sans" panose="020B0603030804020204"/>
              </a:rPr>
              <a:t>Classes:</a:t>
            </a:r>
          </a:p>
          <a:p>
            <a:pPr algn="l">
              <a:buClrTx/>
              <a:buSzTx/>
              <a:buFontTx/>
            </a:pPr>
            <a:r>
              <a:rPr lang="en-US" altLang="zh-CN" sz="2400" b="1" dirty="0">
                <a:solidFill>
                  <a:srgbClr val="002060"/>
                </a:solidFill>
                <a:latin typeface="Calibri" panose="020F0502020204030204"/>
                <a:ea typeface="DejaVu Sans" panose="020B0603030804020204"/>
              </a:rPr>
              <a:t>horizontal_pile</a:t>
            </a:r>
          </a:p>
          <a:p>
            <a:pPr algn="l">
              <a:buClrTx/>
              <a:buSzTx/>
              <a:buFontTx/>
            </a:pPr>
            <a:r>
              <a:rPr lang="en-US" altLang="zh-CN" sz="2400" b="1" dirty="0">
                <a:solidFill>
                  <a:srgbClr val="002060"/>
                </a:solidFill>
                <a:latin typeface="Calibri" panose="020F0502020204030204"/>
                <a:ea typeface="DejaVu Sans" panose="020B0603030804020204"/>
              </a:rPr>
              <a:t>vertical_pile</a:t>
            </a:r>
          </a:p>
          <a:p>
            <a:pPr algn="l">
              <a:buClrTx/>
              <a:buSzTx/>
              <a:buFontTx/>
            </a:pPr>
            <a:r>
              <a:rPr lang="en-US" altLang="zh-CN" sz="2400" b="1" dirty="0">
                <a:solidFill>
                  <a:srgbClr val="002060"/>
                </a:solidFill>
                <a:latin typeface="Calibri" panose="020F0502020204030204"/>
                <a:ea typeface="DejaVu Sans" panose="020B0603030804020204"/>
              </a:rPr>
              <a:t>machine</a:t>
            </a:r>
          </a:p>
          <a:p>
            <a:pPr algn="l">
              <a:buClrTx/>
              <a:buSzTx/>
              <a:buFontTx/>
              <a:buNone/>
            </a:pPr>
            <a:r>
              <a:rPr lang="en-US" altLang="zh-CN" sz="2400" b="1" dirty="0">
                <a:solidFill>
                  <a:srgbClr val="002060"/>
                </a:solidFill>
                <a:latin typeface="Calibri" panose="020F0502020204030204"/>
                <a:ea typeface="DejaVu Sans" panose="020B0603030804020204"/>
              </a:rPr>
              <a:t>worker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7005" y="152400"/>
            <a:ext cx="11857990" cy="1195705"/>
          </a:xfrm>
        </p:spPr>
        <p:txBody>
          <a:bodyPr/>
          <a:lstStyle/>
          <a:p>
            <a:r>
              <a:rPr kumimoji="0" lang="en-US" altLang="zh-CN" sz="3600" b="1" i="0" u="none" strike="noStrike" kern="1200" cap="none" normalizeH="0" baseline="0" noProof="1">
                <a:solidFill>
                  <a:srgbClr val="002060"/>
                </a:solidFill>
                <a:latin typeface="Calibri" panose="020F0502020204030204"/>
                <a:ea typeface="DejaVu Sans" panose="020B0603030804020204"/>
                <a:cs typeface="+mn-cs"/>
                <a:sym typeface="+mn-ea"/>
              </a:rPr>
              <a:t>Phase 2: </a:t>
            </a:r>
            <a:r>
              <a:rPr lang="en-US" altLang="zh-CN" sz="3600" b="1" dirty="0">
                <a:solidFill>
                  <a:srgbClr val="002060"/>
                </a:solidFill>
                <a:latin typeface="Calibri" panose="020F0502020204030204"/>
                <a:ea typeface="DejaVu Sans" panose="020B0603030804020204"/>
                <a:sym typeface="+mn-ea"/>
              </a:rPr>
              <a:t>2D Detection Module</a:t>
            </a:r>
            <a:endParaRPr kumimoji="0" lang="en-US" altLang="zh-CN" sz="3600" b="1" i="0" u="none" strike="noStrike" kern="1200" cap="none" normalizeH="0" baseline="0" noProof="1">
              <a:solidFill>
                <a:srgbClr val="002060"/>
              </a:solidFill>
              <a:latin typeface="Calibri" panose="020F0502020204030204"/>
              <a:ea typeface="DejaVu Sans" panose="020B0603030804020204"/>
              <a:cs typeface="+mn-cs"/>
              <a:sym typeface="+mn-ea"/>
            </a:endParaRPr>
          </a:p>
        </p:txBody>
      </p:sp>
      <p:sp>
        <p:nvSpPr>
          <p:cNvPr id="7" name="文本框 6"/>
          <p:cNvSpPr txBox="1"/>
          <p:nvPr/>
        </p:nvSpPr>
        <p:spPr>
          <a:xfrm>
            <a:off x="514985" y="1219200"/>
            <a:ext cx="6164580" cy="4892675"/>
          </a:xfrm>
          <a:prstGeom prst="rect">
            <a:avLst/>
          </a:prstGeom>
          <a:noFill/>
        </p:spPr>
        <p:txBody>
          <a:bodyPr wrap="square" rtlCol="0">
            <a:spAutoFit/>
          </a:bodyPr>
          <a:lstStyle/>
          <a:p>
            <a:r>
              <a:rPr lang="en-US" altLang="zh-CN" sz="2400" b="1" dirty="0">
                <a:solidFill>
                  <a:srgbClr val="002060"/>
                </a:solidFill>
                <a:latin typeface="Calibri" panose="020F0502020204030204"/>
                <a:ea typeface="DejaVu Sans" panose="020B0603030804020204"/>
              </a:rPr>
              <a:t>Results:</a:t>
            </a:r>
            <a:br>
              <a:rPr lang="en-US" altLang="zh-CN" sz="2400" b="1" dirty="0">
                <a:solidFill>
                  <a:srgbClr val="002060"/>
                </a:solidFill>
                <a:latin typeface="Calibri" panose="020F0502020204030204"/>
                <a:ea typeface="DejaVu Sans" panose="020B0603030804020204"/>
              </a:rPr>
            </a:br>
            <a:endParaRPr lang="en-US" altLang="zh-CN" sz="2400" b="1" dirty="0">
              <a:solidFill>
                <a:srgbClr val="002060"/>
              </a:solidFill>
              <a:latin typeface="Calibri" panose="020F0502020204030204"/>
              <a:ea typeface="DejaVu Sans" panose="020B0603030804020204"/>
            </a:endParaRPr>
          </a:p>
          <a:p>
            <a:r>
              <a:rPr lang="en-US" altLang="zh-CN" sz="2400" b="1" dirty="0">
                <a:solidFill>
                  <a:srgbClr val="002060"/>
                </a:solidFill>
                <a:latin typeface="Calibri" panose="020F0502020204030204"/>
                <a:ea typeface="DejaVu Sans" panose="020B0603030804020204"/>
              </a:rPr>
              <a:t>In total:</a:t>
            </a:r>
          </a:p>
          <a:p>
            <a:r>
              <a:rPr lang="en-US" altLang="zh-CN" sz="2400" b="1" dirty="0">
                <a:solidFill>
                  <a:srgbClr val="002060"/>
                </a:solidFill>
                <a:latin typeface="Calibri" panose="020F0502020204030204"/>
                <a:ea typeface="DejaVu Sans" panose="020B0603030804020204"/>
              </a:rPr>
              <a:t>mAP=0.94</a:t>
            </a:r>
            <a:br>
              <a:rPr lang="en-US" altLang="zh-CN" sz="2400" b="1" dirty="0">
                <a:solidFill>
                  <a:srgbClr val="002060"/>
                </a:solidFill>
                <a:latin typeface="Calibri" panose="020F0502020204030204"/>
                <a:ea typeface="DejaVu Sans" panose="020B0603030804020204"/>
              </a:rPr>
            </a:br>
            <a:r>
              <a:rPr lang="en-US" altLang="zh-CN" sz="2400" b="1" dirty="0">
                <a:solidFill>
                  <a:srgbClr val="002060"/>
                </a:solidFill>
                <a:latin typeface="Calibri" panose="020F0502020204030204"/>
                <a:ea typeface="DejaVu Sans" panose="020B0603030804020204"/>
              </a:rPr>
              <a:t>mAP50-95 = 0.815</a:t>
            </a:r>
          </a:p>
          <a:p>
            <a:r>
              <a:rPr lang="en-US" altLang="zh-CN" sz="2400" b="1" dirty="0">
                <a:solidFill>
                  <a:srgbClr val="002060"/>
                </a:solidFill>
                <a:latin typeface="Calibri" panose="020F0502020204030204"/>
                <a:ea typeface="DejaVu Sans" panose="020B0603030804020204"/>
              </a:rPr>
              <a:t>P = 0.905</a:t>
            </a:r>
          </a:p>
          <a:p>
            <a:r>
              <a:rPr lang="en-US" altLang="zh-CN" sz="2400" b="1" dirty="0">
                <a:solidFill>
                  <a:srgbClr val="002060"/>
                </a:solidFill>
                <a:latin typeface="Calibri" panose="020F0502020204030204"/>
                <a:ea typeface="DejaVu Sans" panose="020B0603030804020204"/>
              </a:rPr>
              <a:t>R = 0.866</a:t>
            </a:r>
          </a:p>
          <a:p>
            <a:endParaRPr lang="en-US" altLang="zh-CN" sz="2400" b="1" dirty="0">
              <a:solidFill>
                <a:srgbClr val="002060"/>
              </a:solidFill>
              <a:latin typeface="Calibri" panose="020F0502020204030204"/>
              <a:ea typeface="DejaVu Sans" panose="020B0603030804020204"/>
            </a:endParaRPr>
          </a:p>
          <a:p>
            <a:r>
              <a:rPr lang="en-US" altLang="zh-CN" sz="2400" b="1" dirty="0">
                <a:solidFill>
                  <a:srgbClr val="002060"/>
                </a:solidFill>
                <a:latin typeface="Calibri" panose="020F0502020204030204"/>
                <a:ea typeface="DejaVu Sans" panose="020B0603030804020204"/>
              </a:rPr>
              <a:t>for every object:</a:t>
            </a:r>
          </a:p>
          <a:p>
            <a:r>
              <a:rPr lang="en-US" altLang="zh-CN" sz="2400" b="1" dirty="0">
                <a:solidFill>
                  <a:srgbClr val="002060"/>
                </a:solidFill>
                <a:latin typeface="Calibri" panose="020F0502020204030204"/>
                <a:ea typeface="DejaVu Sans" panose="020B0603030804020204"/>
              </a:rPr>
              <a:t>horizontal_pile：0.838</a:t>
            </a:r>
            <a:br>
              <a:rPr lang="en-US" altLang="zh-CN" sz="2400" b="1" dirty="0">
                <a:solidFill>
                  <a:srgbClr val="002060"/>
                </a:solidFill>
                <a:latin typeface="Calibri" panose="020F0502020204030204"/>
                <a:ea typeface="DejaVu Sans" panose="020B0603030804020204"/>
              </a:rPr>
            </a:br>
            <a:r>
              <a:rPr lang="en-US" altLang="zh-CN" sz="2400" b="1" dirty="0">
                <a:solidFill>
                  <a:srgbClr val="002060"/>
                </a:solidFill>
                <a:latin typeface="Calibri" panose="020F0502020204030204"/>
                <a:ea typeface="DejaVu Sans" panose="020B0603030804020204"/>
                <a:sym typeface="+mn-ea"/>
              </a:rPr>
              <a:t>vertical_pile：0.805</a:t>
            </a:r>
            <a:endParaRPr lang="en-US" altLang="zh-CN" sz="2400" b="1" dirty="0">
              <a:solidFill>
                <a:srgbClr val="002060"/>
              </a:solidFill>
              <a:latin typeface="Calibri" panose="020F0502020204030204"/>
              <a:ea typeface="DejaVu Sans" panose="020B0603030804020204"/>
            </a:endParaRPr>
          </a:p>
          <a:p>
            <a:r>
              <a:rPr lang="en-US" altLang="zh-CN" sz="2400" b="1" dirty="0">
                <a:solidFill>
                  <a:srgbClr val="002060"/>
                </a:solidFill>
                <a:latin typeface="Calibri" panose="020F0502020204030204"/>
                <a:ea typeface="DejaVu Sans" panose="020B0603030804020204"/>
              </a:rPr>
              <a:t>machine：0.812</a:t>
            </a:r>
          </a:p>
          <a:p>
            <a:r>
              <a:rPr lang="en-US" altLang="zh-CN" sz="2400" b="1" dirty="0">
                <a:solidFill>
                  <a:srgbClr val="002060"/>
                </a:solidFill>
                <a:latin typeface="Calibri" panose="020F0502020204030204"/>
                <a:ea typeface="DejaVu Sans" panose="020B0603030804020204"/>
              </a:rPr>
              <a:t>worker：0.822</a:t>
            </a:r>
          </a:p>
        </p:txBody>
      </p:sp>
      <p:pic>
        <p:nvPicPr>
          <p:cNvPr id="9" name="图片 8"/>
          <p:cNvPicPr>
            <a:picLocks noChangeAspect="1"/>
          </p:cNvPicPr>
          <p:nvPr>
            <p:custDataLst>
              <p:tags r:id="rId1"/>
            </p:custDataLst>
          </p:nvPr>
        </p:nvPicPr>
        <p:blipFill>
          <a:blip r:embed="rId3"/>
          <a:stretch>
            <a:fillRect/>
          </a:stretch>
        </p:blipFill>
        <p:spPr>
          <a:xfrm>
            <a:off x="4318635" y="1348740"/>
            <a:ext cx="7261860" cy="4382770"/>
          </a:xfrm>
          <a:prstGeom prst="rect">
            <a:avLst/>
          </a:prstGeom>
        </p:spPr>
      </p:pic>
      <p:sp>
        <p:nvSpPr>
          <p:cNvPr id="3" name="文本框 2"/>
          <p:cNvSpPr txBox="1"/>
          <p:nvPr/>
        </p:nvSpPr>
        <p:spPr>
          <a:xfrm>
            <a:off x="3886200" y="6477000"/>
            <a:ext cx="4064000" cy="368300"/>
          </a:xfrm>
          <a:prstGeom prst="rect">
            <a:avLst/>
          </a:prstGeom>
          <a:noFill/>
        </p:spPr>
        <p:txBody>
          <a:bodyPr wrap="square" rtlCol="0">
            <a:spAutoFit/>
          </a:bodyPr>
          <a:lstStyle/>
          <a:p>
            <a:pPr algn="ctr"/>
            <a:r>
              <a:rPr lang="en-US" altLang="zh-CN"/>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7005" y="152400"/>
            <a:ext cx="11857990" cy="1195705"/>
          </a:xfrm>
        </p:spPr>
        <p:txBody>
          <a:bodyPr/>
          <a:lstStyle/>
          <a:p>
            <a:r>
              <a:rPr kumimoji="0" lang="en-US" altLang="zh-CN" sz="3600" b="1" i="0" u="none" strike="noStrike" kern="1200" cap="none" normalizeH="0" baseline="0" noProof="1">
                <a:solidFill>
                  <a:srgbClr val="002060"/>
                </a:solidFill>
                <a:latin typeface="Calibri" panose="020F0502020204030204"/>
                <a:ea typeface="DejaVu Sans" panose="020B0603030804020204"/>
                <a:cs typeface="+mn-cs"/>
                <a:sym typeface="+mn-ea"/>
              </a:rPr>
              <a:t>Phase 2: </a:t>
            </a:r>
            <a:r>
              <a:rPr lang="en-US" altLang="zh-CN" sz="3600" b="1" dirty="0">
                <a:solidFill>
                  <a:srgbClr val="002060"/>
                </a:solidFill>
                <a:latin typeface="Calibri" panose="020F0502020204030204"/>
                <a:ea typeface="DejaVu Sans" panose="020B0603030804020204"/>
                <a:sym typeface="+mn-ea"/>
              </a:rPr>
              <a:t>2D Detection Module</a:t>
            </a:r>
            <a:endParaRPr kumimoji="0" lang="en-US" altLang="zh-CN" sz="3600" b="1" i="0" u="none" strike="noStrike" kern="1200" cap="none" normalizeH="0" baseline="0" noProof="1">
              <a:solidFill>
                <a:srgbClr val="002060"/>
              </a:solidFill>
              <a:latin typeface="Calibri" panose="020F0502020204030204"/>
              <a:ea typeface="DejaVu Sans" panose="020B0603030804020204"/>
              <a:cs typeface="+mn-cs"/>
              <a:sym typeface="+mn-ea"/>
            </a:endParaRPr>
          </a:p>
        </p:txBody>
      </p:sp>
      <p:sp>
        <p:nvSpPr>
          <p:cNvPr id="7" name="文本框 6"/>
          <p:cNvSpPr txBox="1"/>
          <p:nvPr/>
        </p:nvSpPr>
        <p:spPr>
          <a:xfrm>
            <a:off x="304800" y="990600"/>
            <a:ext cx="6164580" cy="460375"/>
          </a:xfrm>
          <a:prstGeom prst="rect">
            <a:avLst/>
          </a:prstGeom>
          <a:noFill/>
        </p:spPr>
        <p:txBody>
          <a:bodyPr wrap="square" rtlCol="0">
            <a:spAutoFit/>
          </a:bodyPr>
          <a:lstStyle/>
          <a:p>
            <a:r>
              <a:rPr lang="en-US" altLang="zh-CN" sz="2400" b="1" dirty="0">
                <a:solidFill>
                  <a:srgbClr val="002060"/>
                </a:solidFill>
                <a:latin typeface="Calibri" panose="020F0502020204030204"/>
                <a:ea typeface="DejaVu Sans" panose="020B0603030804020204"/>
              </a:rPr>
              <a:t>Distance Estimation</a:t>
            </a:r>
          </a:p>
        </p:txBody>
      </p:sp>
      <p:sp>
        <p:nvSpPr>
          <p:cNvPr id="3" name="文本框 2"/>
          <p:cNvSpPr txBox="1"/>
          <p:nvPr/>
        </p:nvSpPr>
        <p:spPr>
          <a:xfrm>
            <a:off x="3886200" y="6477000"/>
            <a:ext cx="4064000" cy="368300"/>
          </a:xfrm>
          <a:prstGeom prst="rect">
            <a:avLst/>
          </a:prstGeom>
          <a:noFill/>
        </p:spPr>
        <p:txBody>
          <a:bodyPr wrap="square" rtlCol="0">
            <a:spAutoFit/>
          </a:bodyPr>
          <a:lstStyle/>
          <a:p>
            <a:pPr algn="ctr"/>
            <a:r>
              <a:rPr lang="en-US" altLang="zh-CN"/>
              <a:t>5</a:t>
            </a:r>
          </a:p>
        </p:txBody>
      </p:sp>
      <p:sp>
        <p:nvSpPr>
          <p:cNvPr id="4" name="文本框 3"/>
          <p:cNvSpPr txBox="1"/>
          <p:nvPr/>
        </p:nvSpPr>
        <p:spPr>
          <a:xfrm>
            <a:off x="381000" y="1524000"/>
            <a:ext cx="4514215" cy="4061460"/>
          </a:xfrm>
          <a:prstGeom prst="rect">
            <a:avLst/>
          </a:prstGeom>
          <a:noFill/>
        </p:spPr>
        <p:txBody>
          <a:bodyPr wrap="square" rtlCol="0">
            <a:spAutoFit/>
          </a:bodyPr>
          <a:lstStyle/>
          <a:p>
            <a:r>
              <a:rPr lang="en-US" altLang="zh-CN" sz="2400" b="1" dirty="0">
                <a:solidFill>
                  <a:srgbClr val="002060"/>
                </a:solidFill>
                <a:latin typeface="Calibri" panose="020F0502020204030204"/>
                <a:ea typeface="DejaVu Sans" panose="020B0603030804020204"/>
              </a:rPr>
              <a:t>Input:</a:t>
            </a:r>
            <a:br>
              <a:rPr lang="en-US" altLang="zh-CN" sz="2400" b="1" dirty="0">
                <a:solidFill>
                  <a:srgbClr val="002060"/>
                </a:solidFill>
                <a:latin typeface="Calibri" panose="020F0502020204030204"/>
                <a:ea typeface="DejaVu Sans" panose="020B0603030804020204"/>
              </a:rPr>
            </a:br>
            <a:r>
              <a:rPr lang="en-US" altLang="zh-CN" sz="2400" b="1" dirty="0">
                <a:solidFill>
                  <a:srgbClr val="002060"/>
                </a:solidFill>
                <a:latin typeface="Calibri" panose="020F0502020204030204"/>
                <a:ea typeface="DejaVu Sans" panose="020B0603030804020204"/>
              </a:rPr>
              <a:t>Camera Intrinsics(K)</a:t>
            </a:r>
            <a:br>
              <a:rPr lang="en-US" altLang="zh-CN" sz="2400" b="1" dirty="0">
                <a:solidFill>
                  <a:srgbClr val="002060"/>
                </a:solidFill>
                <a:latin typeface="Calibri" panose="020F0502020204030204"/>
                <a:ea typeface="DejaVu Sans" panose="020B0603030804020204"/>
              </a:rPr>
            </a:br>
            <a:r>
              <a:rPr lang="en-US" altLang="zh-CN" sz="2400" b="1" dirty="0">
                <a:solidFill>
                  <a:srgbClr val="002060"/>
                </a:solidFill>
                <a:latin typeface="Calibri" panose="020F0502020204030204"/>
                <a:ea typeface="DejaVu Sans" panose="020B0603030804020204"/>
              </a:rPr>
              <a:t>Camera height+pitch angle</a:t>
            </a:r>
            <a:br>
              <a:rPr lang="en-US" altLang="zh-CN" sz="2400" b="1" dirty="0">
                <a:solidFill>
                  <a:srgbClr val="002060"/>
                </a:solidFill>
                <a:latin typeface="Calibri" panose="020F0502020204030204"/>
                <a:ea typeface="DejaVu Sans" panose="020B0603030804020204"/>
              </a:rPr>
            </a:br>
            <a:r>
              <a:rPr lang="en-US" altLang="zh-CN" sz="2400" b="1" dirty="0">
                <a:solidFill>
                  <a:srgbClr val="002060"/>
                </a:solidFill>
                <a:latin typeface="Calibri" panose="020F0502020204030204"/>
                <a:ea typeface="DejaVu Sans" panose="020B0603030804020204"/>
              </a:rPr>
              <a:t>YOLO 2D bounding box</a:t>
            </a:r>
            <a:br>
              <a:rPr lang="en-US" altLang="zh-CN"/>
            </a:br>
            <a:br>
              <a:rPr lang="en-US" altLang="zh-CN"/>
            </a:br>
            <a:r>
              <a:rPr lang="en-US" altLang="zh-CN" sz="2400" b="1" dirty="0">
                <a:solidFill>
                  <a:srgbClr val="002060"/>
                </a:solidFill>
                <a:latin typeface="Calibri" panose="020F0502020204030204"/>
                <a:ea typeface="DejaVu Sans" panose="020B0603030804020204"/>
              </a:rPr>
              <a:t>Pipeline:</a:t>
            </a:r>
            <a:br>
              <a:rPr lang="en-US" altLang="zh-CN" sz="2400" b="1" dirty="0">
                <a:solidFill>
                  <a:srgbClr val="002060"/>
                </a:solidFill>
                <a:latin typeface="Calibri" panose="020F0502020204030204"/>
                <a:ea typeface="DejaVu Sans" panose="020B0603030804020204"/>
              </a:rPr>
            </a:br>
            <a:r>
              <a:rPr lang="en-US" altLang="zh-CN" sz="2400" b="1" dirty="0">
                <a:solidFill>
                  <a:srgbClr val="002060"/>
                </a:solidFill>
                <a:latin typeface="Calibri" panose="020F0502020204030204"/>
                <a:ea typeface="DejaVu Sans" panose="020B0603030804020204"/>
              </a:rPr>
              <a:t>1.Select bottom-center pixel from bounding box</a:t>
            </a:r>
            <a:br>
              <a:rPr lang="en-US" altLang="zh-CN" sz="2400" b="1" dirty="0">
                <a:solidFill>
                  <a:srgbClr val="002060"/>
                </a:solidFill>
                <a:latin typeface="Calibri" panose="020F0502020204030204"/>
                <a:ea typeface="DejaVu Sans" panose="020B0603030804020204"/>
              </a:rPr>
            </a:br>
            <a:r>
              <a:rPr lang="en-US" altLang="zh-CN" sz="2400" b="1" dirty="0">
                <a:solidFill>
                  <a:srgbClr val="002060"/>
                </a:solidFill>
                <a:latin typeface="Calibri" panose="020F0502020204030204"/>
                <a:ea typeface="DejaVu Sans" panose="020B0603030804020204"/>
              </a:rPr>
              <a:t>2.Back-project the pixel to a 3D ray and intersect with the ground plane to get distance.</a:t>
            </a:r>
          </a:p>
        </p:txBody>
      </p:sp>
      <p:pic>
        <p:nvPicPr>
          <p:cNvPr id="8" name="图片 7"/>
          <p:cNvPicPr>
            <a:picLocks noChangeAspect="1"/>
          </p:cNvPicPr>
          <p:nvPr>
            <p:custDataLst>
              <p:tags r:id="rId1"/>
            </p:custDataLst>
          </p:nvPr>
        </p:nvPicPr>
        <p:blipFill>
          <a:blip r:embed="rId3"/>
          <a:stretch>
            <a:fillRect/>
          </a:stretch>
        </p:blipFill>
        <p:spPr>
          <a:xfrm>
            <a:off x="4953000" y="1066800"/>
            <a:ext cx="6844665" cy="4533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7005" y="381000"/>
            <a:ext cx="4885690" cy="760095"/>
          </a:xfrm>
        </p:spPr>
        <p:txBody>
          <a:bodyPr/>
          <a:lstStyle/>
          <a:p>
            <a:r>
              <a:rPr kumimoji="0" lang="en-US" altLang="zh-CN" sz="3600" b="1" i="0" u="none" strike="noStrike" kern="1200" cap="none" normalizeH="0" baseline="0" noProof="1">
                <a:solidFill>
                  <a:srgbClr val="002060"/>
                </a:solidFill>
                <a:latin typeface="Calibri" panose="020F0502020204030204"/>
                <a:ea typeface="DejaVu Sans" panose="020B0603030804020204"/>
                <a:cs typeface="+mn-cs"/>
                <a:sym typeface="+mn-ea"/>
              </a:rPr>
              <a:t>Phase 3: 3D annotation </a:t>
            </a:r>
          </a:p>
        </p:txBody>
      </p:sp>
      <p:sp>
        <p:nvSpPr>
          <p:cNvPr id="3" name="文本框 2"/>
          <p:cNvSpPr txBox="1"/>
          <p:nvPr/>
        </p:nvSpPr>
        <p:spPr>
          <a:xfrm>
            <a:off x="3886200" y="6477000"/>
            <a:ext cx="4064000" cy="368300"/>
          </a:xfrm>
          <a:prstGeom prst="rect">
            <a:avLst/>
          </a:prstGeom>
          <a:noFill/>
        </p:spPr>
        <p:txBody>
          <a:bodyPr wrap="square" rtlCol="0">
            <a:spAutoFit/>
          </a:bodyPr>
          <a:lstStyle/>
          <a:p>
            <a:pPr algn="ctr"/>
            <a:r>
              <a:rPr lang="en-US" altLang="zh-CN"/>
              <a:t>6</a:t>
            </a:r>
          </a:p>
        </p:txBody>
      </p:sp>
      <p:pic>
        <p:nvPicPr>
          <p:cNvPr id="5" name="图片 4"/>
          <p:cNvPicPr>
            <a:picLocks noChangeAspect="1"/>
          </p:cNvPicPr>
          <p:nvPr>
            <p:custDataLst>
              <p:tags r:id="rId1"/>
            </p:custDataLst>
          </p:nvPr>
        </p:nvPicPr>
        <p:blipFill>
          <a:blip r:embed="rId4"/>
          <a:stretch>
            <a:fillRect/>
          </a:stretch>
        </p:blipFill>
        <p:spPr>
          <a:xfrm>
            <a:off x="6324600" y="76200"/>
            <a:ext cx="4826000" cy="1354455"/>
          </a:xfrm>
          <a:prstGeom prst="rect">
            <a:avLst/>
          </a:prstGeom>
        </p:spPr>
      </p:pic>
      <p:sp>
        <p:nvSpPr>
          <p:cNvPr id="10" name="文本框 9"/>
          <p:cNvSpPr txBox="1"/>
          <p:nvPr/>
        </p:nvSpPr>
        <p:spPr>
          <a:xfrm>
            <a:off x="0" y="2209800"/>
            <a:ext cx="10199370" cy="2676525"/>
          </a:xfrm>
          <a:prstGeom prst="rect">
            <a:avLst/>
          </a:prstGeom>
          <a:noFill/>
        </p:spPr>
        <p:txBody>
          <a:bodyPr wrap="square" rtlCol="0">
            <a:spAutoFit/>
          </a:bodyPr>
          <a:lstStyle/>
          <a:p>
            <a:r>
              <a:rPr lang="en-US" altLang="zh-CN" sz="2400" b="1" dirty="0">
                <a:solidFill>
                  <a:srgbClr val="002060"/>
                </a:solidFill>
                <a:latin typeface="Calibri" panose="020F0502020204030204"/>
                <a:ea typeface="DejaVu Sans" panose="020B0603030804020204"/>
              </a:rPr>
              <a:t>Camera-assisted Radar Detection Clustering works like this: decode the camera image, then YOLO gives 2D detection boxes.  radar points are projected onto the image, points inside each 2D box are kept as candidates. These points are clustered in two steps: first by radar features (velocity, RCS, SNR), then by spatial distance (DBSCAN). The best cluster is treated as the object. Finally, Kalman + Doppler fusion stabilizes object position and motion, and a class-based size prior is used to generate the final 3D bounding box </a:t>
            </a:r>
          </a:p>
        </p:txBody>
      </p:sp>
      <p:sp>
        <p:nvSpPr>
          <p:cNvPr id="12" name="文本框 11"/>
          <p:cNvSpPr txBox="1"/>
          <p:nvPr/>
        </p:nvSpPr>
        <p:spPr>
          <a:xfrm>
            <a:off x="167005" y="1066800"/>
            <a:ext cx="7089775" cy="1198880"/>
          </a:xfrm>
          <a:prstGeom prst="rect">
            <a:avLst/>
          </a:prstGeom>
          <a:noFill/>
        </p:spPr>
        <p:txBody>
          <a:bodyPr wrap="square" rtlCol="0">
            <a:spAutoFit/>
          </a:bodyPr>
          <a:lstStyle/>
          <a:p>
            <a:r>
              <a:rPr lang="en-US" altLang="zh-CN" sz="2400" b="1" dirty="0">
                <a:solidFill>
                  <a:srgbClr val="002060"/>
                </a:solidFill>
                <a:latin typeface="Calibri" panose="020F0502020204030204"/>
                <a:ea typeface="DejaVu Sans" panose="020B0603030804020204"/>
              </a:rPr>
              <a:t>Because manual 3D annotation is extremely time-consuming, I chose to use this clustering method to generate the annotations.</a:t>
            </a:r>
          </a:p>
        </p:txBody>
      </p:sp>
      <p:pic>
        <p:nvPicPr>
          <p:cNvPr id="16" name="图片 15"/>
          <p:cNvPicPr>
            <a:picLocks noChangeAspect="1"/>
          </p:cNvPicPr>
          <p:nvPr>
            <p:custDataLst>
              <p:tags r:id="rId2"/>
            </p:custDataLst>
          </p:nvPr>
        </p:nvPicPr>
        <p:blipFill>
          <a:blip r:embed="rId5"/>
          <a:stretch>
            <a:fillRect/>
          </a:stretch>
        </p:blipFill>
        <p:spPr>
          <a:xfrm>
            <a:off x="76200" y="4839335"/>
            <a:ext cx="8545830" cy="15214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8600" y="3657600"/>
            <a:ext cx="11857990" cy="895985"/>
          </a:xfrm>
        </p:spPr>
        <p:txBody>
          <a:bodyPr/>
          <a:lstStyle/>
          <a:p>
            <a:r>
              <a:rPr kumimoji="0" lang="en-US" altLang="zh-CN" sz="2400" b="1" i="0" u="none" strike="noStrike" kern="1200" cap="none" normalizeH="0" baseline="0" noProof="1">
                <a:solidFill>
                  <a:srgbClr val="002060"/>
                </a:solidFill>
                <a:latin typeface="Calibri" panose="020F0502020204030204"/>
                <a:ea typeface="DejaVu Sans" panose="020B0603030804020204"/>
                <a:cs typeface="+mn-cs"/>
                <a:sym typeface="+mn-ea"/>
              </a:rPr>
              <a:t>Next plan</a:t>
            </a:r>
          </a:p>
        </p:txBody>
      </p:sp>
      <p:sp>
        <p:nvSpPr>
          <p:cNvPr id="3" name="文本框 2"/>
          <p:cNvSpPr txBox="1"/>
          <p:nvPr/>
        </p:nvSpPr>
        <p:spPr>
          <a:xfrm>
            <a:off x="3886200" y="6477000"/>
            <a:ext cx="4064000" cy="368300"/>
          </a:xfrm>
          <a:prstGeom prst="rect">
            <a:avLst/>
          </a:prstGeom>
          <a:noFill/>
        </p:spPr>
        <p:txBody>
          <a:bodyPr wrap="square" rtlCol="0">
            <a:spAutoFit/>
          </a:bodyPr>
          <a:lstStyle/>
          <a:p>
            <a:pPr algn="ctr"/>
            <a:r>
              <a:rPr lang="en-US" altLang="zh-CN"/>
              <a:t>7</a:t>
            </a:r>
          </a:p>
        </p:txBody>
      </p:sp>
      <p:sp>
        <p:nvSpPr>
          <p:cNvPr id="5" name="文本框 4"/>
          <p:cNvSpPr txBox="1"/>
          <p:nvPr/>
        </p:nvSpPr>
        <p:spPr>
          <a:xfrm>
            <a:off x="685800" y="4648200"/>
            <a:ext cx="9652000" cy="1568450"/>
          </a:xfrm>
          <a:prstGeom prst="rect">
            <a:avLst/>
          </a:prstGeom>
          <a:noFill/>
        </p:spPr>
        <p:txBody>
          <a:bodyPr wrap="square" rtlCol="0">
            <a:spAutoFit/>
          </a:bodyPr>
          <a:lstStyle/>
          <a:p>
            <a:r>
              <a:rPr lang="en-US" altLang="zh-CN" sz="2400" b="1" dirty="0">
                <a:solidFill>
                  <a:srgbClr val="002060"/>
                </a:solidFill>
                <a:latin typeface="Calibri" panose="020F0502020204030204"/>
                <a:ea typeface="DejaVu Sans" panose="020B0603030804020204"/>
                <a:sym typeface="+mn-ea"/>
              </a:rPr>
              <a:t>-  Fix wrong BBOX and build training material</a:t>
            </a:r>
            <a:br>
              <a:rPr lang="en-US" altLang="zh-CN" sz="2400" b="1" dirty="0">
                <a:solidFill>
                  <a:srgbClr val="002060"/>
                </a:solidFill>
                <a:latin typeface="Calibri" panose="020F0502020204030204"/>
                <a:ea typeface="DejaVu Sans" panose="020B0603030804020204"/>
                <a:sym typeface="+mn-ea"/>
              </a:rPr>
            </a:br>
            <a:br>
              <a:rPr lang="en-US" altLang="zh-CN" sz="2400" b="1" dirty="0">
                <a:solidFill>
                  <a:srgbClr val="002060"/>
                </a:solidFill>
                <a:latin typeface="Calibri" panose="020F0502020204030204"/>
                <a:ea typeface="DejaVu Sans" panose="020B0603030804020204"/>
                <a:sym typeface="+mn-ea"/>
              </a:rPr>
            </a:br>
            <a:r>
              <a:rPr lang="en-US" altLang="zh-CN" sz="2400" b="1" dirty="0">
                <a:solidFill>
                  <a:srgbClr val="002060"/>
                </a:solidFill>
                <a:latin typeface="Calibri" panose="020F0502020204030204"/>
                <a:ea typeface="DejaVu Sans" panose="020B0603030804020204"/>
                <a:sym typeface="+mn-ea"/>
              </a:rPr>
              <a:t>-  Do survey and find suitable camera + 4D radar fusion model for training </a:t>
            </a:r>
            <a:br>
              <a:rPr lang="en-US" altLang="zh-CN" sz="2400" b="1" dirty="0">
                <a:solidFill>
                  <a:srgbClr val="002060"/>
                </a:solidFill>
                <a:latin typeface="Calibri" panose="020F0502020204030204"/>
                <a:ea typeface="DejaVu Sans" panose="020B0603030804020204"/>
                <a:sym typeface="+mn-ea"/>
              </a:rPr>
            </a:br>
            <a:r>
              <a:rPr lang="en-US" altLang="zh-CN" sz="2400" b="1" dirty="0">
                <a:solidFill>
                  <a:srgbClr val="002060"/>
                </a:solidFill>
                <a:latin typeface="Calibri" panose="020F0502020204030204"/>
                <a:ea typeface="DejaVu Sans" panose="020B0603030804020204"/>
                <a:sym typeface="+mn-ea"/>
              </a:rPr>
              <a:t>	</a:t>
            </a:r>
          </a:p>
        </p:txBody>
      </p:sp>
      <p:sp>
        <p:nvSpPr>
          <p:cNvPr id="6" name="文本框 5"/>
          <p:cNvSpPr txBox="1"/>
          <p:nvPr/>
        </p:nvSpPr>
        <p:spPr>
          <a:xfrm>
            <a:off x="457200" y="685800"/>
            <a:ext cx="4064000" cy="460375"/>
          </a:xfrm>
          <a:prstGeom prst="rect">
            <a:avLst/>
          </a:prstGeom>
          <a:noFill/>
        </p:spPr>
        <p:txBody>
          <a:bodyPr wrap="square" rtlCol="0">
            <a:spAutoFit/>
          </a:bodyPr>
          <a:lstStyle/>
          <a:p>
            <a:r>
              <a:rPr lang="en-US" altLang="zh-CN" sz="2400" b="1" dirty="0">
                <a:solidFill>
                  <a:srgbClr val="002060"/>
                </a:solidFill>
                <a:latin typeface="Calibri" panose="020F0502020204030204"/>
                <a:ea typeface="DejaVu Sans" panose="020B0603030804020204"/>
              </a:rPr>
              <a:t>result:</a:t>
            </a:r>
          </a:p>
        </p:txBody>
      </p:sp>
      <p:pic>
        <p:nvPicPr>
          <p:cNvPr id="14" name="图片 13"/>
          <p:cNvPicPr>
            <a:picLocks noChangeAspect="1"/>
          </p:cNvPicPr>
          <p:nvPr>
            <p:custDataLst>
              <p:tags r:id="rId1"/>
            </p:custDataLst>
          </p:nvPr>
        </p:nvPicPr>
        <p:blipFill>
          <a:blip r:embed="rId4"/>
          <a:stretch>
            <a:fillRect/>
          </a:stretch>
        </p:blipFill>
        <p:spPr>
          <a:xfrm>
            <a:off x="2057400" y="457200"/>
            <a:ext cx="4531995" cy="3615055"/>
          </a:xfrm>
          <a:prstGeom prst="rect">
            <a:avLst/>
          </a:prstGeom>
        </p:spPr>
      </p:pic>
      <p:pic>
        <p:nvPicPr>
          <p:cNvPr id="9" name="图片 8"/>
          <p:cNvPicPr>
            <a:picLocks noChangeAspect="1"/>
          </p:cNvPicPr>
          <p:nvPr>
            <p:custDataLst>
              <p:tags r:id="rId2"/>
            </p:custDataLst>
          </p:nvPr>
        </p:nvPicPr>
        <p:blipFill>
          <a:blip r:embed="rId5"/>
          <a:stretch>
            <a:fillRect/>
          </a:stretch>
        </p:blipFill>
        <p:spPr>
          <a:xfrm>
            <a:off x="6858000" y="437515"/>
            <a:ext cx="5137150" cy="36347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0" y="0"/>
            <a:ext cx="12189240" cy="530640"/>
          </a:xfrm>
          <a:prstGeom prst="rect">
            <a:avLst/>
          </a:prstGeom>
          <a:noFill/>
          <a:ln>
            <a:noFill/>
          </a:ln>
        </p:spPr>
        <p:style>
          <a:lnRef idx="0">
            <a:scrgbClr r="0" g="0" b="0"/>
          </a:lnRef>
          <a:fillRef idx="0">
            <a:scrgbClr r="0" g="0" b="0"/>
          </a:fillRef>
          <a:effectRef idx="0">
            <a:scrgbClr r="0" g="0" b="0"/>
          </a:effectRef>
          <a:fontRef idx="minor"/>
        </p:style>
        <p:txBody>
          <a:bodyPr/>
          <a:lstStyle/>
          <a:p>
            <a:endParaRPr lang="ko-KR" altLang="en-US"/>
          </a:p>
        </p:txBody>
      </p:sp>
      <p:sp>
        <p:nvSpPr>
          <p:cNvPr id="107" name="CustomShape 2"/>
          <p:cNvSpPr/>
          <p:nvPr/>
        </p:nvSpPr>
        <p:spPr>
          <a:xfrm>
            <a:off x="-1014840" y="2874960"/>
            <a:ext cx="14218920" cy="10947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altLang="zh-CN" sz="4000" b="1" strike="noStrike" spc="-1">
                <a:solidFill>
                  <a:srgbClr val="002060"/>
                </a:solidFill>
                <a:latin typeface="Calibri" panose="020F0502020204030204"/>
                <a:ea typeface="DejaVu Sans" panose="020B0603030804020204"/>
              </a:rPr>
              <a:t>Thank you for listening!</a:t>
            </a:r>
          </a:p>
        </p:txBody>
      </p:sp>
      <p:sp>
        <p:nvSpPr>
          <p:cNvPr id="108" name="CustomShape 3"/>
          <p:cNvSpPr/>
          <p:nvPr/>
        </p:nvSpPr>
        <p:spPr>
          <a:xfrm>
            <a:off x="4724280" y="6455880"/>
            <a:ext cx="2740320" cy="362160"/>
          </a:xfrm>
          <a:prstGeom prst="rect">
            <a:avLst/>
          </a:prstGeom>
          <a:noFill/>
          <a:ln>
            <a:noFill/>
          </a:ln>
        </p:spPr>
        <p:style>
          <a:lnRef idx="0">
            <a:scrgbClr r="0" g="0" b="0"/>
          </a:lnRef>
          <a:fillRef idx="0">
            <a:scrgbClr r="0" g="0" b="0"/>
          </a:fillRef>
          <a:effectRef idx="0">
            <a:scrgbClr r="0" g="0" b="0"/>
          </a:effectRef>
          <a:fontRef idx="minor"/>
        </p:style>
        <p:txBody>
          <a:bodyPr/>
          <a:lstStyle/>
          <a:p>
            <a:endParaRPr lang="ko-KR"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ExMzE1YzAyZDQ1ZThlZDFkMTg0YTlmNmI5MmQ3ZD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596</Words>
  <Application>Microsoft Office PowerPoint</Application>
  <PresentationFormat>와이드스크린</PresentationFormat>
  <Paragraphs>65</Paragraphs>
  <Slides>9</Slides>
  <Notes>1</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9</vt:i4>
      </vt:variant>
    </vt:vector>
  </HeadingPairs>
  <TitlesOfParts>
    <vt:vector size="16" baseType="lpstr">
      <vt:lpstr>Arial</vt:lpstr>
      <vt:lpstr>Calibri</vt:lpstr>
      <vt:lpstr>Symbol</vt:lpstr>
      <vt:lpstr>Times New Roman</vt:lpstr>
      <vt:lpstr>Wingdings</vt:lpstr>
      <vt:lpstr>Office Theme</vt:lpstr>
      <vt:lpstr>Office Theme</vt:lpstr>
      <vt:lpstr>PowerPoint 프레젠테이션</vt:lpstr>
      <vt:lpstr>PowerPoint 프레젠테이션</vt:lpstr>
      <vt:lpstr>Phase 1 (Data &amp; Annotation Preparation)</vt:lpstr>
      <vt:lpstr>Phase 2: 2D Detection Module</vt:lpstr>
      <vt:lpstr>Phase 2: 2D Detection Module</vt:lpstr>
      <vt:lpstr>Phase 2: 2D Detection Module</vt:lpstr>
      <vt:lpstr>Phase 3: 3D annotation </vt:lpstr>
      <vt:lpstr>Next plan</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Duy Linh</dc:creator>
  <cp:lastModifiedBy>정재호</cp:lastModifiedBy>
  <cp:revision>3091</cp:revision>
  <dcterms:created xsi:type="dcterms:W3CDTF">2025-11-04T02:04:00Z</dcterms:created>
  <dcterms:modified xsi:type="dcterms:W3CDTF">2026-03-19T17:39:35Z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KSOProductBuildVer">
    <vt:lpwstr>2052-11.1.0.14227</vt:lpwstr>
  </property>
  <property fmtid="{D5CDD505-2E9C-101B-9397-08002B2CF9AE}" pid="6" name="LinksUpToDate">
    <vt:bool>false</vt:bool>
  </property>
  <property fmtid="{D5CDD505-2E9C-101B-9397-08002B2CF9AE}" pid="7" name="MMClips">
    <vt:i4>0</vt:i4>
  </property>
  <property fmtid="{D5CDD505-2E9C-101B-9397-08002B2CF9AE}" pid="8" name="Notes">
    <vt:i4>4</vt:i4>
  </property>
  <property fmtid="{D5CDD505-2E9C-101B-9397-08002B2CF9AE}" pid="9" name="PresentationFormat">
    <vt:lpwstr>Widescreen</vt:lpwstr>
  </property>
  <property fmtid="{D5CDD505-2E9C-101B-9397-08002B2CF9AE}" pid="10" name="ScaleCrop">
    <vt:bool>false</vt:bool>
  </property>
  <property fmtid="{D5CDD505-2E9C-101B-9397-08002B2CF9AE}" pid="11" name="ShareDoc">
    <vt:bool>false</vt:bool>
  </property>
  <property fmtid="{D5CDD505-2E9C-101B-9397-08002B2CF9AE}" pid="12" name="Slides">
    <vt:i4>6</vt:i4>
  </property>
  <property fmtid="{D5CDD505-2E9C-101B-9397-08002B2CF9AE}" pid="13" name="ICV">
    <vt:lpwstr>46D6DBB0937847D492D9F8DDEECB9FC2_13</vt:lpwstr>
  </property>
</Properties>
</file>
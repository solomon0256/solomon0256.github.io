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129" r:id="rId4"/>
  </p:sldMasterIdLst>
  <p:notesMasterIdLst>
    <p:notesMasterId r:id="rId10"/>
  </p:notesMasterIdLst>
  <p:handoutMasterIdLst>
    <p:handoutMasterId r:id="rId11"/>
  </p:handoutMasterIdLst>
  <p:sldIdLst>
    <p:sldId id="512" r:id="rId5"/>
    <p:sldId id="709" r:id="rId6"/>
    <p:sldId id="713" r:id="rId7"/>
    <p:sldId id="674" r:id="rId8"/>
    <p:sldId id="591" r:id="rId9"/>
  </p:sldIdLst>
  <p:sldSz cx="12192000" cy="6858000"/>
  <p:notesSz cx="9906000" cy="6769100"/>
  <p:embeddedFontLst>
    <p:embeddedFont>
      <p:font typeface="굴림" panose="020B0600000101010101" pitchFamily="34" charset="-127"/>
      <p:regular r:id="rId12"/>
    </p:embeddedFont>
    <p:embeddedFont>
      <p:font typeface="Arial Narrow" panose="020B0606020202030204" pitchFamily="34" charset="0"/>
      <p:regular r:id="rId13"/>
      <p:bold r:id="rId14"/>
      <p:italic r:id="rId15"/>
      <p:boldItalic r:id="rId16"/>
    </p:embeddedFont>
    <p:embeddedFont>
      <p:font typeface="Microsoft Sans Serif" panose="020B0604020202020204" pitchFamily="34" charset="0"/>
      <p:regular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/>
        <a:ea typeface="굴림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/>
        <a:ea typeface="굴림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/>
        <a:ea typeface="굴림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/>
        <a:ea typeface="굴림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/>
        <a:ea typeface="굴림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/>
        <a:ea typeface="굴림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/>
        <a:ea typeface="굴림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/>
        <a:ea typeface="굴림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1">
          <p15:clr>
            <a:srgbClr val="A4A3A4"/>
          </p15:clr>
        </p15:guide>
        <p15:guide id="2" pos="31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0FF"/>
    <a:srgbClr val="FF0000"/>
    <a:srgbClr val="FF66FF"/>
    <a:srgbClr val="0070C0"/>
    <a:srgbClr val="3A4A6A"/>
    <a:srgbClr val="002060"/>
    <a:srgbClr val="FFC000"/>
    <a:srgbClr val="006045"/>
    <a:srgbClr val="4472C4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5026" autoAdjust="0"/>
  </p:normalViewPr>
  <p:slideViewPr>
    <p:cSldViewPr snapToGrid="0">
      <p:cViewPr varScale="1">
        <p:scale>
          <a:sx n="108" d="100"/>
          <a:sy n="108" d="100"/>
        </p:scale>
        <p:origin x="804" y="84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131"/>
        <p:guide pos="31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5611813" y="0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6429375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5611813" y="6429375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/>
              </a:defRPr>
            </a:lvl1pPr>
          </a:lstStyle>
          <a:p>
            <a:pPr>
              <a:defRPr/>
            </a:pPr>
            <a:fld id="{34E631ED-B613-4E60-BD9D-B96C2F1D79A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5611813" y="0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2696632" y="508000"/>
            <a:ext cx="4512734" cy="2538413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96613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989013" y="3214688"/>
            <a:ext cx="7927975" cy="304641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96614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429375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96615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5611813" y="6429375"/>
            <a:ext cx="4292600" cy="33813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/>
              </a:defRPr>
            </a:lvl1pPr>
          </a:lstStyle>
          <a:p>
            <a:pPr>
              <a:defRPr/>
            </a:pPr>
            <a:fld id="{571ED376-94FE-49B1-AB97-E81FC815E8A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7163" y="508000"/>
            <a:ext cx="4511675" cy="2538413"/>
          </a:xfrm>
          <a:ln/>
        </p:spPr>
      </p:sp>
      <p:sp>
        <p:nvSpPr>
          <p:cNvPr id="614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defRPr/>
            </a:pPr>
            <a:endParaRPr lang="ko-KR" altLang="en-US" dirty="0">
              <a:latin typeface="굴림"/>
              <a:ea typeface="굴림"/>
            </a:endParaRPr>
          </a:p>
        </p:txBody>
      </p:sp>
      <p:sp>
        <p:nvSpPr>
          <p:cNvPr id="614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/>
                <a:ea typeface="굴림"/>
              </a:defRPr>
            </a:lvl9pPr>
          </a:lstStyle>
          <a:p>
            <a:pPr latinLnBrk="0">
              <a:spcBef>
                <a:spcPct val="0"/>
              </a:spcBef>
              <a:defRPr/>
            </a:pPr>
            <a:fld id="{7C486C55-D042-4121-9B6A-405204555544}" type="slidenum">
              <a:rPr kumimoji="0" lang="en-US" altLang="en-US">
                <a:latin typeface="Times New Roman"/>
              </a:rPr>
              <a:pPr latinLnBrk="0">
                <a:spcBef>
                  <a:spcPct val="0"/>
                </a:spcBef>
                <a:defRPr/>
              </a:pPr>
              <a:t>1</a:t>
            </a:fld>
            <a:endParaRPr kumimoji="0" lang="en-US" altLang="en-US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FDA5-6459-AF86-3E2B-01712617D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DED69F-9D3A-E2D9-DD80-070D76A26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8000"/>
            <a:ext cx="4511675" cy="2538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629EA8-115C-59B7-FADF-6FB6CF92D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64028-E80A-ECA4-7EFD-514CAD9F6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1ED376-94FE-49B1-AB97-E81FC815E8AA}" type="slidenum">
              <a:rPr lang="ko-KR" altLang="en-US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2314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E9A70-294F-2B4C-1622-57655FA5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20C3F0-82A0-2408-B52D-9B0A57D44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8000"/>
            <a:ext cx="4511675" cy="2538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9B6974-CF2A-01B0-71F5-6AA0A9470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1BEC3-E32E-91F6-901F-4AF8F2E1E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1ED376-94FE-49B1-AB97-E81FC815E8AA}" type="slidenum">
              <a:rPr lang="ko-KR" altLang="en-US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3130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C0A8C-3EB7-54BC-8B4A-315942E5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CBF410-609C-57BC-4282-E752EF095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7163" y="508000"/>
            <a:ext cx="4511675" cy="2538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8EBB19-7CAE-8DBE-7137-4F21A2611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2739AD-0484-D7B6-AD54-B851B4618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1ED376-94FE-49B1-AB97-E81FC815E8AA}" type="slidenum">
              <a:rPr lang="ko-KR" altLang="en-US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1130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symbolmark01"/>
          <p:cNvPicPr>
            <a:picLocks noChangeAspect="1" noChangeArrowheads="1"/>
          </p:cNvPicPr>
          <p:nvPr userDrawn="1"/>
        </p:nvPicPr>
        <p:blipFill rotWithShape="1">
          <a:blip r:embed="rId2">
            <a:grayscl/>
          </a:blip>
          <a:srcRect/>
          <a:stretch>
            <a:fillRect/>
          </a:stretch>
        </p:blipFill>
        <p:spPr>
          <a:xfrm>
            <a:off x="4464051" y="4491038"/>
            <a:ext cx="3253316" cy="23225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6"/>
          <p:cNvSpPr>
            <a:spLocks noChangeArrowheads="1"/>
          </p:cNvSpPr>
          <p:nvPr/>
        </p:nvSpPr>
        <p:spPr>
          <a:xfrm>
            <a:off x="660400" y="3933825"/>
            <a:ext cx="10871200" cy="9350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/>
                <a:ea typeface="굴림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/>
                <a:ea typeface="굴림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9pPr>
          </a:lstStyle>
          <a:p>
            <a:pPr algn="ctr" eaLnBrk="1" hangingPunct="1">
              <a:defRPr/>
            </a:pPr>
            <a:endParaRPr lang="ko-KR" altLang="en-US" b="1">
              <a:latin typeface="Arial Narrow"/>
            </a:endParaRP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gray">
          <a:xfrm>
            <a:off x="0" y="2636838"/>
            <a:ext cx="12192000" cy="71437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FFDE53"/>
            </a:solidFill>
            <a:miter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/>
                <a:ea typeface="굴림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/>
                <a:ea typeface="굴림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9pPr>
          </a:lstStyle>
          <a:p>
            <a:pPr algn="ctr" eaLnBrk="1" hangingPunct="1">
              <a:defRPr/>
            </a:pPr>
            <a:endParaRPr kumimoji="1" lang="ko-KR" altLang="en-US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>
          <a:xfrm>
            <a:off x="283633" y="3860800"/>
            <a:ext cx="11624734" cy="863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/>
                <a:ea typeface="굴림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/>
                <a:ea typeface="굴림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/>
              <a:buNone/>
              <a:defRPr/>
            </a:pPr>
            <a:endParaRPr kumimoji="1" lang="ko-KR" altLang="en-US" b="1">
              <a:latin typeface="Microsoft Sans Serif"/>
            </a:endParaRPr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2833" y="981075"/>
            <a:ext cx="11624734" cy="1466850"/>
          </a:xfrm>
          <a:noFill/>
        </p:spPr>
        <p:txBody>
          <a:bodyPr lIns="91440" tIns="45720" rIns="91440" bIns="45720" anchor="b" anchorCtr="0"/>
          <a:lstStyle>
            <a:lvl1pPr>
              <a:defRPr sz="3600" b="1">
                <a:ea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altLang="ko-KR" dirty="0"/>
              <a:t>Master </a:t>
            </a:r>
            <a:endParaRPr lang="ko-KR" altLang="en-US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2833" y="2852738"/>
            <a:ext cx="11624734" cy="863600"/>
          </a:xfrm>
        </p:spPr>
        <p:txBody>
          <a:bodyPr/>
          <a:lstStyle>
            <a:lvl1pPr marL="0" indent="0" algn="ctr">
              <a:buFont typeface="Wingdings"/>
              <a:buNone/>
              <a:defRPr sz="2400" b="1"/>
            </a:lvl1pPr>
          </a:lstStyle>
          <a:p>
            <a:pPr lvl="0">
              <a:defRPr/>
            </a:pPr>
            <a:r>
              <a:rPr lang="en-US" altLang="ko-KR"/>
              <a:t>Master second subjective 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759200" y="5943600"/>
            <a:ext cx="2540000" cy="457200"/>
          </a:xfrm>
          <a:prstGeom prst="rect">
            <a:avLst/>
          </a:prstGeom>
          <a:ln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116AFD5-9A04-4089-A9FA-A5C5D4C9184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34433" y="547688"/>
            <a:ext cx="5659967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547688"/>
            <a:ext cx="5659967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63087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40800" cy="63087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islab2006-E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533400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 vert="horz" wrap="square" lIns="18000" tIns="10800" rIns="18000" bIns="10800" anchor="ctr" anchorCtr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433" y="547688"/>
            <a:ext cx="11523134" cy="57610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Master </a:t>
            </a:r>
          </a:p>
          <a:p>
            <a:pPr lvl="1">
              <a:defRPr/>
            </a:pPr>
            <a:r>
              <a:rPr lang="en-US" altLang="ko-KR"/>
              <a:t>Master </a:t>
            </a:r>
          </a:p>
          <a:p>
            <a:pPr lvl="2">
              <a:defRPr/>
            </a:pPr>
            <a:r>
              <a:rPr lang="en-US" altLang="ko-KR"/>
              <a:t>Master</a:t>
            </a:r>
          </a:p>
          <a:p>
            <a:pPr lvl="3">
              <a:defRPr/>
            </a:pPr>
            <a:r>
              <a:rPr lang="en-US" altLang="ko-KR"/>
              <a:t>Master</a:t>
            </a:r>
          </a:p>
          <a:p>
            <a:pPr lvl="4">
              <a:defRPr/>
            </a:pPr>
            <a:r>
              <a:rPr lang="en-US" altLang="ko-KR"/>
              <a:t>Master</a:t>
            </a:r>
            <a:endParaRPr lang="ko-KR" altLang="en-US"/>
          </a:p>
        </p:txBody>
      </p:sp>
      <p:sp>
        <p:nvSpPr>
          <p:cNvPr id="154630" name="Rectangle 6"/>
          <p:cNvSpPr>
            <a:spLocks noChangeArrowheads="1"/>
          </p:cNvSpPr>
          <p:nvPr/>
        </p:nvSpPr>
        <p:spPr>
          <a:xfrm>
            <a:off x="3939117" y="6400800"/>
            <a:ext cx="2540000" cy="4572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/>
                <a:ea typeface="굴림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/>
                <a:ea typeface="굴림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/>
                <a:ea typeface="굴림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/>
                <a:ea typeface="굴림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9pPr>
          </a:lstStyle>
          <a:p>
            <a:pPr algn="r" eaLnBrk="1" hangingPunct="1">
              <a:defRPr/>
            </a:pPr>
            <a:fld id="{935EFEC2-39FD-4BCB-BF3D-8D8385F144C5}" type="slidenum">
              <a:rPr lang="ko-KR" altLang="en-US" sz="1400"/>
              <a:pPr algn="r" eaLnBrk="1" hangingPunct="1">
                <a:defRPr/>
              </a:pPr>
              <a:t>‹#›</a:t>
            </a:fld>
            <a:endParaRPr lang="en-US" altLang="ko-KR" sz="1400"/>
          </a:p>
        </p:txBody>
      </p:sp>
      <p:pic>
        <p:nvPicPr>
          <p:cNvPr id="1030" name="Picture 13" descr="logotype02"/>
          <p:cNvPicPr>
            <a:picLocks noChangeAspect="1" noChangeArrowheads="1"/>
          </p:cNvPicPr>
          <p:nvPr userDrawn="1"/>
        </p:nvPicPr>
        <p:blipFill rotWithShape="1">
          <a:blip r:embed="rId13">
            <a:lum bright="6000" contrast="28000"/>
          </a:blip>
          <a:srcRect l="7890" t="36690" r="7890" b="26610"/>
          <a:stretch>
            <a:fillRect/>
          </a:stretch>
        </p:blipFill>
        <p:spPr>
          <a:xfrm>
            <a:off x="814917" y="6597650"/>
            <a:ext cx="3073400" cy="144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Picture 11" descr="logo"/>
          <p:cNvPicPr>
            <a:picLocks noChangeAspect="1" noChangeArrowheads="1"/>
          </p:cNvPicPr>
          <p:nvPr userDrawn="1"/>
        </p:nvPicPr>
        <p:blipFill rotWithShape="1">
          <a:blip r:embed="rId14">
            <a:lum contrast="6000"/>
          </a:blip>
          <a:srcRect t="6250" b="10290"/>
          <a:stretch>
            <a:fillRect/>
          </a:stretch>
        </p:blipFill>
        <p:spPr>
          <a:xfrm>
            <a:off x="46566" y="6453188"/>
            <a:ext cx="768350" cy="360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Rectangle 4"/>
          <p:cNvSpPr>
            <a:spLocks noChangeArrowheads="1"/>
          </p:cNvSpPr>
          <p:nvPr/>
        </p:nvSpPr>
        <p:spPr bwMode="gray">
          <a:xfrm>
            <a:off x="0" y="6351588"/>
            <a:ext cx="12192000" cy="69850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rgbClr val="D0D0D0"/>
              </a:gs>
            </a:gsLst>
            <a:lin ang="0" scaled="1"/>
          </a:gradFill>
          <a:ln w="3175">
            <a:solidFill>
              <a:srgbClr val="ABABAB"/>
            </a:solidFill>
            <a:miter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/>
                <a:ea typeface="굴림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/>
                <a:ea typeface="굴림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9pPr>
          </a:lstStyle>
          <a:p>
            <a:pPr algn="ctr" eaLnBrk="1" hangingPunct="1">
              <a:defRPr/>
            </a:pPr>
            <a:endParaRPr kumimoji="1" lang="ko-KR" altLang="en-US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gray">
          <a:xfrm>
            <a:off x="0" y="534988"/>
            <a:ext cx="12192000" cy="71437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E8BC00"/>
            </a:solidFill>
            <a:miter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/>
                <a:ea typeface="굴림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/>
                <a:ea typeface="굴림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/>
                <a:ea typeface="굴림"/>
              </a:defRPr>
            </a:lvl9pPr>
          </a:lstStyle>
          <a:p>
            <a:pPr algn="ctr" eaLnBrk="1" hangingPunct="1">
              <a:defRPr/>
            </a:pPr>
            <a:endParaRPr kumimoji="1" lang="ko-KR" altLang="en-US"/>
          </a:p>
        </p:txBody>
      </p:sp>
      <p:pic>
        <p:nvPicPr>
          <p:cNvPr id="1034" name="Picture 17" descr="symbolmark01"/>
          <p:cNvPicPr>
            <a:picLocks noChangeAspect="1" noChangeArrowheads="1"/>
          </p:cNvPicPr>
          <p:nvPr userDrawn="1"/>
        </p:nvPicPr>
        <p:blipFill rotWithShape="1">
          <a:blip r:embed="rId15">
            <a:grayscl/>
          </a:blip>
          <a:srcRect/>
          <a:stretch>
            <a:fillRect/>
          </a:stretch>
        </p:blipFill>
        <p:spPr>
          <a:xfrm>
            <a:off x="11459634" y="0"/>
            <a:ext cx="719666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7"/>
          <p:cNvPicPr>
            <a:picLocks noChangeAspect="1" noChangeArrowheads="1"/>
          </p:cNvPicPr>
          <p:nvPr userDrawn="1"/>
        </p:nvPicPr>
        <p:blipFill rotWithShape="1">
          <a:blip r:embed="rId16"/>
          <a:srcRect/>
          <a:stretch>
            <a:fillRect/>
          </a:stretch>
        </p:blipFill>
        <p:spPr>
          <a:xfrm>
            <a:off x="11040534" y="6462713"/>
            <a:ext cx="1123950" cy="37306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116" r:id="rId2"/>
    <p:sldLayoutId id="2147485117" r:id="rId3"/>
    <p:sldLayoutId id="2147485118" r:id="rId4"/>
    <p:sldLayoutId id="2147485119" r:id="rId5"/>
    <p:sldLayoutId id="2147485120" r:id="rId6"/>
    <p:sldLayoutId id="2147485121" r:id="rId7"/>
    <p:sldLayoutId id="2147485122" r:id="rId8"/>
    <p:sldLayoutId id="2147485123" r:id="rId9"/>
    <p:sldLayoutId id="2147485124" r:id="rId10"/>
    <p:sldLayoutId id="2147485125" r:id="rId11"/>
  </p:sldLayoutIdLst>
  <p:transition/>
  <p:txStyles>
    <p:titleStyle>
      <a:lvl1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2pPr>
      <a:lvl3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3pPr>
      <a:lvl4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4pPr>
      <a:lvl5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5pPr>
      <a:lvl6pPr marL="457200"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6pPr>
      <a:lvl7pPr marL="914400"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7pPr>
      <a:lvl8pPr marL="1371600"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8pPr>
      <a:lvl9pPr marL="1828800"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Microsoft Sans Serif"/>
          <a:ea typeface="굴림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/>
        <a:buBlip>
          <a:blip r:embed="rId17"/>
        </a:buBlip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/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/>
        <a:buBlip>
          <a:blip r:embed="rId17"/>
        </a:buBlip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/>
        <a:buBlip>
          <a:blip r:embed="rId17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/>
        <a:buBlip>
          <a:blip r:embed="rId17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/>
        <a:buBlip>
          <a:blip r:embed="rId17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/>
        <a:buBlip>
          <a:blip r:embed="rId17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enyuhe@mail.ulsan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4177408" y="2860916"/>
            <a:ext cx="3837183" cy="103798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i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Presenter:</a:t>
            </a:r>
            <a:r>
              <a:rPr lang="en-US" altLang="ko-KR" sz="1800" i="1" dirty="0"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WEN YUHE</a:t>
            </a:r>
            <a:br>
              <a:rPr lang="en-US" altLang="ko-KR" sz="1800" i="1" dirty="0"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zh-CN" sz="1800" i="1" dirty="0">
                <a:solidFill>
                  <a:srgbClr val="0070C0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wenyuhe@mail.ulsan.ac.kr</a:t>
            </a:r>
            <a:br>
              <a:rPr lang="en-US" altLang="zh-CN" sz="1800" i="1" dirty="0">
                <a:solidFill>
                  <a:srgbClr val="0070C0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1800" i="1" dirty="0">
                <a:solidFill>
                  <a:srgbClr val="0070C0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Mar.05, 2026</a:t>
            </a:r>
            <a:endParaRPr lang="ko-KR" altLang="en-US" sz="1800" i="1" dirty="0">
              <a:solidFill>
                <a:srgbClr val="0070C0"/>
              </a:solidFill>
              <a:latin typeface="Aptos Display" panose="020B00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123" name="Rectangle 1032"/>
          <p:cNvSpPr>
            <a:spLocks noGrp="1" noChangeArrowheads="1"/>
          </p:cNvSpPr>
          <p:nvPr>
            <p:ph type="ctrTitle"/>
          </p:nvPr>
        </p:nvSpPr>
        <p:spPr>
          <a:xfrm>
            <a:off x="0" y="819150"/>
            <a:ext cx="12192000" cy="892937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n-US" altLang="ko-KR" sz="4400" dirty="0">
                <a:solidFill>
                  <a:srgbClr val="3A4A6A"/>
                </a:solidFill>
                <a:latin typeface="Aptos Display" panose="020B0004020202020204" pitchFamily="34" charset="0"/>
                <a:ea typeface="에스코어 드림 6 Bold" panose="020B0703030302020204" pitchFamily="34" charset="-127"/>
                <a:cs typeface="Arial" panose="020B0604020202020204" pitchFamily="34" charset="0"/>
              </a:rPr>
              <a:t>Regular Meeting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FEA92-F7DA-351F-368D-5060883B66D3}"/>
              </a:ext>
            </a:extLst>
          </p:cNvPr>
          <p:cNvSpPr txBox="1"/>
          <p:nvPr/>
        </p:nvSpPr>
        <p:spPr>
          <a:xfrm>
            <a:off x="1511397" y="2172856"/>
            <a:ext cx="9169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i="1" baseline="30000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</a:t>
            </a:r>
            <a:r>
              <a:rPr lang="en-US" altLang="ko-KR" sz="1600" i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Dept. of Electrical, Electronic and Computer Engineering, University of Ulsan, Ulsan, Korea</a:t>
            </a:r>
            <a:endParaRPr lang="ko-KR" altLang="en-US" sz="1600" i="1" dirty="0">
              <a:solidFill>
                <a:srgbClr val="3A4A6A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A24F-05D9-65F7-5650-9007AA18F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5993A-572F-CFE9-11D1-F887792B2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12192000" cy="533400"/>
          </a:xfrm>
        </p:spPr>
        <p:txBody>
          <a:bodyPr/>
          <a:lstStyle/>
          <a:p>
            <a:r>
              <a:rPr lang="en-US" altLang="ko-KR" sz="2800" b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Last </a:t>
            </a:r>
            <a:r>
              <a:rPr lang="en-US" altLang="ko-KR" sz="2800" b="1" dirty="0" err="1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Last</a:t>
            </a:r>
            <a:r>
              <a:rPr lang="en-US" altLang="ko-KR" sz="2800" b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Week</a:t>
            </a:r>
            <a:endParaRPr lang="ko-KR" altLang="en-US" sz="2800" b="1" dirty="0">
              <a:solidFill>
                <a:srgbClr val="3A4A6A"/>
              </a:solidFill>
              <a:latin typeface="Aptos Display" panose="020B00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E469A-EC9A-0C5E-5DF3-B3FC938588F4}"/>
              </a:ext>
            </a:extLst>
          </p:cNvPr>
          <p:cNvSpPr txBox="1"/>
          <p:nvPr/>
        </p:nvSpPr>
        <p:spPr>
          <a:xfrm>
            <a:off x="0" y="610058"/>
            <a:ext cx="11863137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3A4A6A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Research</a:t>
            </a:r>
            <a:endParaRPr lang="ko-KR" altLang="en-US" sz="2000" b="1" dirty="0">
              <a:solidFill>
                <a:srgbClr val="3A4A6A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8F48F-F3D8-5EE9-DDE3-4417B5BCDBCA}"/>
              </a:ext>
            </a:extLst>
          </p:cNvPr>
          <p:cNvSpPr txBox="1"/>
          <p:nvPr/>
        </p:nvSpPr>
        <p:spPr>
          <a:xfrm>
            <a:off x="0" y="1010168"/>
            <a:ext cx="11094098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Goal : 4D Radar + Camera + IMU Fusion 3D Object Detection Model in Construction Field (</a:t>
            </a:r>
            <a:r>
              <a:rPr lang="en-US" altLang="ko-KR" sz="1800" b="1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jaeho</a:t>
            </a:r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800" b="1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gan</a:t>
            </a:r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1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800" b="1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yuhe</a:t>
            </a:r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2FE14B8-7609-52E5-91BC-B1C494239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71685"/>
              </p:ext>
            </p:extLst>
          </p:nvPr>
        </p:nvGraphicFramePr>
        <p:xfrm>
          <a:off x="937124" y="2329286"/>
          <a:ext cx="2672347" cy="390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347">
                  <a:extLst>
                    <a:ext uri="{9D8B030D-6E8A-4147-A177-3AD203B41FA5}">
                      <a16:colId xmlns:a16="http://schemas.microsoft.com/office/drawing/2014/main" val="821607173"/>
                    </a:ext>
                  </a:extLst>
                </a:gridCol>
              </a:tblGrid>
              <a:tr h="400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Filtering</a:t>
                      </a:r>
                      <a:endParaRPr lang="ko-KR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378507"/>
                  </a:ext>
                </a:extLst>
              </a:tr>
              <a:tr h="34299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Key idea : Go-RIO, UA, IKF</a:t>
                      </a:r>
                    </a:p>
                    <a:p>
                      <a:pPr latinLnBrk="1"/>
                      <a:endParaRPr lang="en-US" altLang="ko-KR" sz="16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/>
                        <a:t>Erase ground &amp; under ground points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/>
                        <a:t>Calibrate vibration radar points by using gaussian process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/>
                        <a:t>Imu(100hz) is faster than radar(15hz)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/>
                        <a:t>Calibrate radar by one step ahead imu data</a:t>
                      </a:r>
                      <a:endParaRPr lang="ko-KR" altLang="en-US" sz="1600" dirty="0"/>
                    </a:p>
                  </a:txBody>
                  <a:tcPr>
                    <a:solidFill>
                      <a:srgbClr val="DD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81300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BAC88C-0F3E-2FB1-5EC0-B86F72A8D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045621"/>
              </p:ext>
            </p:extLst>
          </p:nvPr>
        </p:nvGraphicFramePr>
        <p:xfrm>
          <a:off x="4759824" y="2329286"/>
          <a:ext cx="2672347" cy="37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347">
                  <a:extLst>
                    <a:ext uri="{9D8B030D-6E8A-4147-A177-3AD203B41FA5}">
                      <a16:colId xmlns:a16="http://schemas.microsoft.com/office/drawing/2014/main" val="821607173"/>
                    </a:ext>
                  </a:extLst>
                </a:gridCol>
              </a:tblGrid>
              <a:tr h="400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Clustering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378507"/>
                  </a:ext>
                </a:extLst>
              </a:tr>
              <a:tr h="28218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Key idea : </a:t>
                      </a:r>
                      <a:r>
                        <a:rPr lang="en-US" altLang="ko-KR" dirty="0" err="1"/>
                        <a:t>DDCFusion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3D lidar annotation is Ground Truth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Radar &amp; camera estimate 3D </a:t>
                      </a:r>
                      <a:r>
                        <a:rPr lang="en-US" altLang="ko-KR" dirty="0" err="1"/>
                        <a:t>bbox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Minimizing the loss through iterative training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81300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C100930-0803-27B4-079F-E113A381F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546077"/>
              </p:ext>
            </p:extLst>
          </p:nvPr>
        </p:nvGraphicFramePr>
        <p:xfrm>
          <a:off x="8701502" y="2329286"/>
          <a:ext cx="2672347" cy="37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347">
                  <a:extLst>
                    <a:ext uri="{9D8B030D-6E8A-4147-A177-3AD203B41FA5}">
                      <a16:colId xmlns:a16="http://schemas.microsoft.com/office/drawing/2014/main" val="821607173"/>
                    </a:ext>
                  </a:extLst>
                </a:gridCol>
              </a:tblGrid>
              <a:tr h="400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Advance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78507"/>
                  </a:ext>
                </a:extLst>
              </a:tr>
              <a:tr h="28218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Key idea : Tracking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Sometime model miss object, but the object is still there.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Object’s location &amp; velocity doesn’t change rapidly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Estimate object’s next 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813005"/>
                  </a:ext>
                </a:extLst>
              </a:tr>
            </a:tbl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5369125-68F0-CC4B-2B82-2A08DB7DD940}"/>
              </a:ext>
            </a:extLst>
          </p:cNvPr>
          <p:cNvSpPr/>
          <p:nvPr/>
        </p:nvSpPr>
        <p:spPr>
          <a:xfrm>
            <a:off x="90235" y="2426682"/>
            <a:ext cx="806116" cy="1338914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original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radar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C950C62-895B-8CC7-F767-65934434E139}"/>
              </a:ext>
            </a:extLst>
          </p:cNvPr>
          <p:cNvSpPr/>
          <p:nvPr/>
        </p:nvSpPr>
        <p:spPr>
          <a:xfrm>
            <a:off x="90235" y="3940651"/>
            <a:ext cx="806116" cy="96252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imu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EC6FECA0-EB2F-8D15-FFC6-52B03D28EF64}"/>
              </a:ext>
            </a:extLst>
          </p:cNvPr>
          <p:cNvSpPr/>
          <p:nvPr/>
        </p:nvSpPr>
        <p:spPr>
          <a:xfrm>
            <a:off x="3841078" y="2381760"/>
            <a:ext cx="806116" cy="1338914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filtered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radar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E59EFBD9-F054-9E10-FA9B-CEAD04AC04CD}"/>
              </a:ext>
            </a:extLst>
          </p:cNvPr>
          <p:cNvSpPr/>
          <p:nvPr/>
        </p:nvSpPr>
        <p:spPr>
          <a:xfrm>
            <a:off x="3785841" y="3990782"/>
            <a:ext cx="964956" cy="96252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6DOF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7D270C4-A57B-AFAD-19CD-96AAA4E48AFF}"/>
              </a:ext>
            </a:extLst>
          </p:cNvPr>
          <p:cNvSpPr/>
          <p:nvPr/>
        </p:nvSpPr>
        <p:spPr>
          <a:xfrm>
            <a:off x="7441198" y="2189556"/>
            <a:ext cx="1260303" cy="2021798"/>
          </a:xfrm>
          <a:prstGeom prst="rightArrow">
            <a:avLst>
              <a:gd name="adj1" fmla="val 70828"/>
              <a:gd name="adj2" fmla="val 51875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Cluster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Points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(</a:t>
            </a:r>
            <a:r>
              <a:rPr lang="en-US" altLang="ko-KR" sz="1400" dirty="0"/>
              <a:t>class+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Point info)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60FEF52-8579-039A-F774-16D08A01A3C3}"/>
              </a:ext>
            </a:extLst>
          </p:cNvPr>
          <p:cNvSpPr/>
          <p:nvPr/>
        </p:nvSpPr>
        <p:spPr>
          <a:xfrm rot="5400000">
            <a:off x="5686612" y="1443209"/>
            <a:ext cx="818769" cy="96252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camera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21" name="화살표: 위로 굽음 20">
            <a:extLst>
              <a:ext uri="{FF2B5EF4-FFF2-40B4-BE49-F238E27FC236}">
                <a16:creationId xmlns:a16="http://schemas.microsoft.com/office/drawing/2014/main" id="{04E93D19-E93F-FB44-6FD5-1D0A008FD0BD}"/>
              </a:ext>
            </a:extLst>
          </p:cNvPr>
          <p:cNvSpPr/>
          <p:nvPr/>
        </p:nvSpPr>
        <p:spPr>
          <a:xfrm rot="5400000">
            <a:off x="4405791" y="4227816"/>
            <a:ext cx="1473232" cy="2463469"/>
          </a:xfrm>
          <a:prstGeom prst="bentUpArrow">
            <a:avLst>
              <a:gd name="adj1" fmla="val 25000"/>
              <a:gd name="adj2" fmla="val 14179"/>
              <a:gd name="adj3" fmla="val 26633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16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22" name="화살표: 위로 굽음 21">
            <a:extLst>
              <a:ext uri="{FF2B5EF4-FFF2-40B4-BE49-F238E27FC236}">
                <a16:creationId xmlns:a16="http://schemas.microsoft.com/office/drawing/2014/main" id="{B7E08882-DEC4-8462-EFEA-D38206C1DAE1}"/>
              </a:ext>
            </a:extLst>
          </p:cNvPr>
          <p:cNvSpPr/>
          <p:nvPr/>
        </p:nvSpPr>
        <p:spPr>
          <a:xfrm>
            <a:off x="5944721" y="4524144"/>
            <a:ext cx="2557146" cy="1672023"/>
          </a:xfrm>
          <a:prstGeom prst="bentUpArrow">
            <a:avLst>
              <a:gd name="adj1" fmla="val 25000"/>
              <a:gd name="adj2" fmla="val 23571"/>
              <a:gd name="adj3" fmla="val 26225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16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E21CEA01-D1F2-6269-2805-857DC4C5FA90}"/>
              </a:ext>
            </a:extLst>
          </p:cNvPr>
          <p:cNvSpPr/>
          <p:nvPr/>
        </p:nvSpPr>
        <p:spPr>
          <a:xfrm>
            <a:off x="7728032" y="4241671"/>
            <a:ext cx="1005443" cy="96252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6DOF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27C376D0-6EAA-F6EA-7AB3-2C0D6B44C3DC}"/>
              </a:ext>
            </a:extLst>
          </p:cNvPr>
          <p:cNvSpPr/>
          <p:nvPr/>
        </p:nvSpPr>
        <p:spPr>
          <a:xfrm>
            <a:off x="11341877" y="2661524"/>
            <a:ext cx="850124" cy="168187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3D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BBOX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1AB60975-23C8-0A43-3D36-D2248025E1C6}"/>
              </a:ext>
            </a:extLst>
          </p:cNvPr>
          <p:cNvSpPr/>
          <p:nvPr/>
        </p:nvSpPr>
        <p:spPr>
          <a:xfrm>
            <a:off x="11373849" y="4418212"/>
            <a:ext cx="850124" cy="168187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Object</a:t>
            </a:r>
            <a:br>
              <a:rPr lang="en-US" altLang="ko-KR" sz="1400" dirty="0"/>
            </a:br>
            <a:r>
              <a:rPr lang="en-US" altLang="ko-KR" sz="1400" dirty="0"/>
              <a:t>info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2712712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0A72-EC39-D161-9B81-45E7162E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81BC0-0E97-7F7E-B10B-03A818FD1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12192000" cy="533400"/>
          </a:xfrm>
        </p:spPr>
        <p:txBody>
          <a:bodyPr/>
          <a:lstStyle/>
          <a:p>
            <a:r>
              <a:rPr lang="en-US" altLang="ko-KR" sz="2800" b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Last </a:t>
            </a:r>
            <a:r>
              <a:rPr lang="en-US" altLang="ko-KR" sz="2800" b="1" dirty="0" err="1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Last</a:t>
            </a:r>
            <a:r>
              <a:rPr lang="en-US" altLang="ko-KR" sz="2800" b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Week</a:t>
            </a:r>
            <a:endParaRPr lang="ko-KR" altLang="en-US" sz="2800" b="1" dirty="0">
              <a:solidFill>
                <a:srgbClr val="3A4A6A"/>
              </a:solidFill>
              <a:latin typeface="Aptos Display" panose="020B00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6FC24-CB73-633E-3EC3-2687DE3ED56A}"/>
              </a:ext>
            </a:extLst>
          </p:cNvPr>
          <p:cNvSpPr txBox="1"/>
          <p:nvPr/>
        </p:nvSpPr>
        <p:spPr>
          <a:xfrm>
            <a:off x="0" y="610058"/>
            <a:ext cx="11863137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3A4A6A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Research </a:t>
            </a:r>
            <a:endParaRPr lang="ko-KR" altLang="en-US" sz="2000" b="1" dirty="0">
              <a:solidFill>
                <a:srgbClr val="3A4A6A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D4D40-6425-B552-4E56-73B10B765D9E}"/>
              </a:ext>
            </a:extLst>
          </p:cNvPr>
          <p:cNvSpPr txBox="1"/>
          <p:nvPr/>
        </p:nvSpPr>
        <p:spPr>
          <a:xfrm>
            <a:off x="0" y="1009683"/>
            <a:ext cx="12192000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Filtering </a:t>
            </a:r>
            <a:r>
              <a:rPr lang="ko-KR" altLang="en-US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noise,</a:t>
            </a:r>
            <a:r>
              <a:rPr lang="ko-KR" altLang="en-US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Vibration Calibration by using “Go-RIO + Uncertainty Aware + Iterated Kalman Filter”</a:t>
            </a:r>
          </a:p>
          <a:p>
            <a:endParaRPr lang="en-US" altLang="ko-KR" sz="1800" b="1" dirty="0">
              <a:solidFill>
                <a:srgbClr val="0070C0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  <a:p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Go-RIO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: Using concentric zone to separate noise, Using GP to</a:t>
            </a:r>
            <a:r>
              <a:rPr lang="ko-KR" altLang="en-US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make 6DOF with asynchronized radar + imu</a:t>
            </a:r>
          </a:p>
          <a:p>
            <a:endParaRPr lang="en-US" altLang="ko-KR" sz="1800" dirty="0">
              <a:solidFill>
                <a:srgbClr val="0070C0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  <a:p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Uncertainty Aware 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: Propagates the GP posterior variance into per-point post-</a:t>
            </a:r>
            <a:r>
              <a:rPr lang="en-US" altLang="ko-KR" sz="1800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undistortion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uncertainty (</a:t>
            </a:r>
            <a:r>
              <a:rPr lang="en-US" altLang="ko-KR" sz="1800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Σ_p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) and performs motion-</a:t>
            </a:r>
            <a:b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</a:b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                                           compensated point cloud </a:t>
            </a:r>
            <a:r>
              <a:rPr lang="en-US" altLang="ko-KR" sz="1800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undistortion</a:t>
            </a:r>
            <a:endParaRPr lang="en-US" altLang="ko-KR" sz="1800" dirty="0">
              <a:solidFill>
                <a:srgbClr val="0070C0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  <a:p>
            <a:endParaRPr lang="en-US" altLang="ko-KR" sz="1800" dirty="0">
              <a:solidFill>
                <a:srgbClr val="0070C0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  <a:p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IKF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:  Estimates the state by assigning different weights to each point according to its post-</a:t>
            </a:r>
            <a:r>
              <a:rPr lang="en-US" altLang="ko-KR" sz="1800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undistortion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uncertainty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302B258-72F2-D9E7-ACBC-29C16DC9B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19155"/>
              </p:ext>
            </p:extLst>
          </p:nvPr>
        </p:nvGraphicFramePr>
        <p:xfrm>
          <a:off x="806116" y="3792702"/>
          <a:ext cx="2756569" cy="1683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569">
                  <a:extLst>
                    <a:ext uri="{9D8B030D-6E8A-4147-A177-3AD203B41FA5}">
                      <a16:colId xmlns:a16="http://schemas.microsoft.com/office/drawing/2014/main" val="245778628"/>
                    </a:ext>
                  </a:extLst>
                </a:gridCol>
              </a:tblGrid>
              <a:tr h="417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Go-RIO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376035"/>
                  </a:ext>
                </a:extLst>
              </a:tr>
              <a:tr h="126629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Fuses IMU and Radar Doppler via Gaussian Process to infer the sensor pose (position + orientation) and its uncertainty at any arbitrary time t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16956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D97CBA-31B4-8A93-8E44-1B7E73A0A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558285"/>
              </p:ext>
            </p:extLst>
          </p:nvPr>
        </p:nvGraphicFramePr>
        <p:xfrm>
          <a:off x="4717715" y="3792702"/>
          <a:ext cx="2756569" cy="1683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569">
                  <a:extLst>
                    <a:ext uri="{9D8B030D-6E8A-4147-A177-3AD203B41FA5}">
                      <a16:colId xmlns:a16="http://schemas.microsoft.com/office/drawing/2014/main" val="245778628"/>
                    </a:ext>
                  </a:extLst>
                </a:gridCol>
              </a:tblGrid>
              <a:tr h="417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Uncertainty Aware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376035"/>
                  </a:ext>
                </a:extLst>
              </a:tr>
              <a:tr h="126629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Converts the GP uncertainty output by Go-RIO into per-point positional uncertainty (</a:t>
                      </a:r>
                      <a:r>
                        <a:rPr lang="en-US" altLang="ko-KR" sz="1400" dirty="0" err="1"/>
                        <a:t>Σ_p</a:t>
                      </a:r>
                      <a:r>
                        <a:rPr lang="en-US" altLang="ko-KR" sz="1400" dirty="0"/>
                        <a:t>) and performs point cloud </a:t>
                      </a:r>
                      <a:r>
                        <a:rPr lang="en-US" altLang="ko-KR" sz="1400" dirty="0" err="1"/>
                        <a:t>undistortion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16956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B15408C-1F24-42B7-4C4E-EFA6B2BBE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535116"/>
              </p:ext>
            </p:extLst>
          </p:nvPr>
        </p:nvGraphicFramePr>
        <p:xfrm>
          <a:off x="8441489" y="3792702"/>
          <a:ext cx="2756570" cy="1683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570">
                  <a:extLst>
                    <a:ext uri="{9D8B030D-6E8A-4147-A177-3AD203B41FA5}">
                      <a16:colId xmlns:a16="http://schemas.microsoft.com/office/drawing/2014/main" val="245778628"/>
                    </a:ext>
                  </a:extLst>
                </a:gridCol>
              </a:tblGrid>
              <a:tr h="417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IKF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376035"/>
                  </a:ext>
                </a:extLst>
              </a:tr>
              <a:tr h="126629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Takes the undistorted points and their uncertainty (</a:t>
                      </a:r>
                      <a:r>
                        <a:rPr lang="en-US" altLang="ko-KR" sz="1400" dirty="0" err="1"/>
                        <a:t>Σ_p</a:t>
                      </a:r>
                      <a:r>
                        <a:rPr lang="en-US" altLang="ko-KR" sz="1400" dirty="0"/>
                        <a:t>), assigns higher weights to more reliable points, and estimates the final 6DOF state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169567"/>
                  </a:ext>
                </a:extLst>
              </a:tr>
            </a:tbl>
          </a:graphicData>
        </a:graphic>
      </p:graphicFrame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AD2E430-A98E-EC65-41BF-18CC75D6B964}"/>
              </a:ext>
            </a:extLst>
          </p:cNvPr>
          <p:cNvSpPr/>
          <p:nvPr/>
        </p:nvSpPr>
        <p:spPr>
          <a:xfrm>
            <a:off x="0" y="3424535"/>
            <a:ext cx="806116" cy="1338914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original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radar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5CD496F5-B61D-5814-0174-ACE33C259EA8}"/>
              </a:ext>
            </a:extLst>
          </p:cNvPr>
          <p:cNvSpPr/>
          <p:nvPr/>
        </p:nvSpPr>
        <p:spPr>
          <a:xfrm>
            <a:off x="0" y="4763449"/>
            <a:ext cx="806116" cy="96252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imu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6D51C9CF-FD65-CC14-E7CD-C995488AB436}"/>
              </a:ext>
            </a:extLst>
          </p:cNvPr>
          <p:cNvSpPr/>
          <p:nvPr/>
        </p:nvSpPr>
        <p:spPr>
          <a:xfrm rot="5400000">
            <a:off x="5692941" y="5209920"/>
            <a:ext cx="806116" cy="1338914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filtered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radar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A3C8D59-DF90-1913-FFD4-A6B20B595F8B}"/>
              </a:ext>
            </a:extLst>
          </p:cNvPr>
          <p:cNvSpPr/>
          <p:nvPr/>
        </p:nvSpPr>
        <p:spPr>
          <a:xfrm>
            <a:off x="11227044" y="4153247"/>
            <a:ext cx="964956" cy="962526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6DOF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C2E5E02-BEF5-F47C-739C-6CA27B145A4B}"/>
              </a:ext>
            </a:extLst>
          </p:cNvPr>
          <p:cNvSpPr/>
          <p:nvPr/>
        </p:nvSpPr>
        <p:spPr>
          <a:xfrm>
            <a:off x="3592763" y="3976675"/>
            <a:ext cx="1124951" cy="1499644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GP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 err="1"/>
              <a:t>s</a:t>
            </a:r>
            <a:r>
              <a:rPr kumimoji="0" lang="en-US" altLang="ko-KR" sz="1400" b="0" i="0" u="none" strike="noStrike" cap="none" normalizeH="0" baseline="0" dirty="0" err="1">
                <a:solidFill>
                  <a:schemeClr val="tx1"/>
                </a:solidFill>
                <a:effectLst/>
                <a:latin typeface="Tahoma"/>
              </a:rPr>
              <a:t>tate+var</a:t>
            </a:r>
            <a:endParaRPr kumimoji="0" lang="ko-KR" altLang="en-US" sz="1400" b="0" i="0" u="none" strike="noStrike" cap="none" normalizeH="0" baseline="0" dirty="0">
              <a:solidFill>
                <a:schemeClr val="tx1"/>
              </a:solidFill>
              <a:effectLst/>
              <a:latin typeface="Tahoma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A24A0F4-FE4C-0336-EDEB-031B839896F1}"/>
              </a:ext>
            </a:extLst>
          </p:cNvPr>
          <p:cNvSpPr/>
          <p:nvPr/>
        </p:nvSpPr>
        <p:spPr>
          <a:xfrm>
            <a:off x="7503269" y="3306845"/>
            <a:ext cx="967206" cy="2586514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ko-KR" sz="1400" dirty="0"/>
              <a:t>Filtered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Points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+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l-GR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Σ_</a:t>
            </a:r>
            <a:r>
              <a:rPr kumimoji="0" lang="en-US" altLang="ko-KR" sz="1400" b="0" i="0" u="none" strike="noStrike" cap="none" normalizeH="0" baseline="0" dirty="0">
                <a:solidFill>
                  <a:schemeClr val="tx1"/>
                </a:solidFill>
                <a:effectLst/>
                <a:latin typeface="Tahoma"/>
              </a:rPr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74CC-4B39-72FA-15D3-57E4E2EE6D1C}"/>
              </a:ext>
            </a:extLst>
          </p:cNvPr>
          <p:cNvSpPr txBox="1"/>
          <p:nvPr/>
        </p:nvSpPr>
        <p:spPr>
          <a:xfrm>
            <a:off x="6765456" y="5848317"/>
            <a:ext cx="5011153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l-GR" altLang="ko-KR" sz="1400" dirty="0"/>
              <a:t>Σ_</a:t>
            </a:r>
            <a:r>
              <a:rPr lang="en-US" altLang="ko-KR" sz="1400" dirty="0"/>
              <a:t>p : A 3×3 covariance matrix that represents how uncertain </a:t>
            </a:r>
            <a:br>
              <a:rPr lang="en-US" altLang="ko-KR" sz="1400" dirty="0"/>
            </a:br>
            <a:r>
              <a:rPr lang="en-US" altLang="ko-KR" sz="1400" dirty="0"/>
              <a:t>        the 3D position of each point is after </a:t>
            </a:r>
            <a:r>
              <a:rPr lang="en-US" altLang="ko-KR" sz="1400" dirty="0" err="1"/>
              <a:t>undistortion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4822279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9C95F-B889-D5D6-04D0-09AF77C63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EB1FE-4FD2-9690-6E66-1AA87993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8"/>
            <a:ext cx="12192000" cy="533400"/>
          </a:xfrm>
        </p:spPr>
        <p:txBody>
          <a:bodyPr/>
          <a:lstStyle/>
          <a:p>
            <a:r>
              <a:rPr lang="en-US" altLang="ko-KR" sz="2800" b="1" dirty="0">
                <a:solidFill>
                  <a:srgbClr val="3A4A6A"/>
                </a:solidFill>
                <a:latin typeface="Aptos Display" panose="020B00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This Week</a:t>
            </a:r>
            <a:endParaRPr lang="ko-KR" altLang="en-US" sz="2800" b="1" dirty="0">
              <a:solidFill>
                <a:srgbClr val="3A4A6A"/>
              </a:solidFill>
              <a:latin typeface="Aptos Display" panose="020B00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E33F3-0AE0-2A73-F6EE-1EF5F7A2C4D6}"/>
              </a:ext>
            </a:extLst>
          </p:cNvPr>
          <p:cNvSpPr txBox="1"/>
          <p:nvPr/>
        </p:nvSpPr>
        <p:spPr>
          <a:xfrm>
            <a:off x="99115" y="735043"/>
            <a:ext cx="11863137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3A4A6A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Research</a:t>
            </a:r>
            <a:endParaRPr lang="ko-KR" altLang="en-US" sz="2000" b="1" dirty="0">
              <a:solidFill>
                <a:srgbClr val="3A4A6A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90E2F-B504-27DD-1959-1F5ADB2DAB6F}"/>
              </a:ext>
            </a:extLst>
          </p:cNvPr>
          <p:cNvSpPr txBox="1"/>
          <p:nvPr/>
        </p:nvSpPr>
        <p:spPr>
          <a:xfrm>
            <a:off x="99114" y="1135153"/>
            <a:ext cx="11675523" cy="258532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Study</a:t>
            </a:r>
          </a:p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Gaussian Process</a:t>
            </a:r>
          </a:p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Uncertainty Aware</a:t>
            </a:r>
          </a:p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Kalman Filter &amp; Iterated Kalman Filter</a:t>
            </a:r>
          </a:p>
          <a:p>
            <a:pPr marL="285750" indent="-285750">
              <a:buFontTx/>
              <a:buChar char="-"/>
            </a:pPr>
            <a:endParaRPr lang="en-US" altLang="ko-KR" sz="1800" dirty="0">
              <a:solidFill>
                <a:srgbClr val="0070C0"/>
              </a:solidFill>
              <a:latin typeface="Aptos Display" panose="020B0004020202020204" pitchFamily="34" charset="0"/>
              <a:cs typeface="Arial" panose="020B0604020202020204" pitchFamily="34" charset="0"/>
            </a:endParaRPr>
          </a:p>
          <a:p>
            <a:r>
              <a:rPr lang="en-US" altLang="ko-KR" sz="1800" b="1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Develop</a:t>
            </a:r>
          </a:p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Make code of ROS2 Go-RIO(Gaussian Process)</a:t>
            </a:r>
          </a:p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Make Code of Uncertainty Aware Module</a:t>
            </a:r>
          </a:p>
          <a:p>
            <a:pPr marL="285750" indent="-285750">
              <a:buFontTx/>
              <a:buChar char="-"/>
            </a:pP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Meeting with </a:t>
            </a:r>
            <a:r>
              <a:rPr lang="en-US" altLang="ko-KR" sz="1800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gan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800" dirty="0" err="1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ko-KR" sz="1800" dirty="0">
                <a:solidFill>
                  <a:srgbClr val="0070C0"/>
                </a:solidFill>
                <a:latin typeface="Aptos Display" panose="020B0004020202020204" pitchFamily="34" charset="0"/>
                <a:cs typeface="Arial" panose="020B0604020202020204" pitchFamily="34" charset="0"/>
              </a:rPr>
              <a:t>, Jaeho</a:t>
            </a:r>
          </a:p>
        </p:txBody>
      </p:sp>
    </p:spTree>
    <p:extLst>
      <p:ext uri="{BB962C8B-B14F-4D97-AF65-F5344CB8AC3E}">
        <p14:creationId xmlns:p14="http://schemas.microsoft.com/office/powerpoint/2010/main" val="5012030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/>
              <a:buNone/>
              <a:defRPr/>
            </a:pPr>
            <a:endParaRPr lang="en-US" altLang="ko-KR" sz="5400" dirty="0"/>
          </a:p>
          <a:p>
            <a:pPr algn="ctr">
              <a:buFont typeface="Wingdings"/>
              <a:buNone/>
              <a:defRPr/>
            </a:pPr>
            <a:endParaRPr lang="en-US" altLang="ko-KR" sz="5400" dirty="0"/>
          </a:p>
          <a:p>
            <a:pPr algn="ctr">
              <a:buFont typeface="Wingdings"/>
              <a:buNone/>
              <a:defRPr/>
            </a:pPr>
            <a:r>
              <a:rPr lang="en-US" altLang="ko-KR" sz="5400" b="1" dirty="0">
                <a:solidFill>
                  <a:srgbClr val="00206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islab2006-Eng">
  <a:themeElements>
    <a:clrScheme name="1_islab2006-Eng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islab2006-Eng">
      <a:majorFont>
        <a:latin typeface="Microsoft Sans Serif"/>
        <a:ea typeface="굴림"/>
        <a:cs typeface=""/>
      </a:majorFont>
      <a:minorFont>
        <a:latin typeface="Microsoft Sans Serif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 cap="flat" cmpd="sng" algn="ctr">
          <a:solidFill>
            <a:schemeClr val="tx1"/>
          </a:solidFill>
          <a:prstDash val="solid"/>
          <a:miter/>
          <a:headEnd w="med" len="med"/>
          <a:tailEnd w="med" len="med"/>
        </a:ln>
        <a:effectLst/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sz="1600" b="0" i="0" u="none" strike="noStrike" cap="none" normalizeH="0" baseline="0" dirty="0" smtClean="0">
            <a:solidFill>
              <a:schemeClr val="tx1"/>
            </a:solidFill>
            <a:effectLst/>
            <a:latin typeface="Tahoma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/>
          <a:headEnd w="med" len="med"/>
          <a:tailEnd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2400" b="0" i="0" u="none" strike="noStrike" cap="none" normalizeH="0" baseline="0" smtClean="0">
            <a:solidFill>
              <a:schemeClr val="tx1"/>
            </a:solidFill>
            <a:effectLst/>
            <a:latin typeface="Tahoma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68d546-3bfe-48e6-96b8-e4e33740b882">
      <Terms xmlns="http://schemas.microsoft.com/office/infopath/2007/PartnerControls"/>
    </lcf76f155ced4ddcb4097134ff3c332f>
    <TaxCatchAll xmlns="afd8de40-4577-43f4-bce1-a65c5284a20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C3D5B03685F1F4EB837328E4A4DA317" ma:contentTypeVersion="12" ma:contentTypeDescription="새 문서를 만듭니다." ma:contentTypeScope="" ma:versionID="26be89d2df066b669010f86c07eb7540">
  <xsd:schema xmlns:xsd="http://www.w3.org/2001/XMLSchema" xmlns:xs="http://www.w3.org/2001/XMLSchema" xmlns:p="http://schemas.microsoft.com/office/2006/metadata/properties" xmlns:ns2="2668d546-3bfe-48e6-96b8-e4e33740b882" xmlns:ns3="afd8de40-4577-43f4-bce1-a65c5284a207" targetNamespace="http://schemas.microsoft.com/office/2006/metadata/properties" ma:root="true" ma:fieldsID="236003ddc065245316fa677018f75f26" ns2:_="" ns3:_="">
    <xsd:import namespace="2668d546-3bfe-48e6-96b8-e4e33740b882"/>
    <xsd:import namespace="afd8de40-4577-43f4-bce1-a65c5284a2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68d546-3bfe-48e6-96b8-e4e33740b8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2bdc3615-f9ce-48df-86e8-cbb43f63ba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d8de40-4577-43f4-bce1-a65c5284a20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46e2383-99d7-4cfc-b3bd-aff3cf536364}" ma:internalName="TaxCatchAll" ma:showField="CatchAllData" ma:web="afd8de40-4577-43f4-bce1-a65c5284a2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497FAF-41AA-41E5-A679-C564D24E5A51}">
  <ds:schemaRefs>
    <ds:schemaRef ds:uri="http://schemas.microsoft.com/office/2006/metadata/properties"/>
    <ds:schemaRef ds:uri="http://purl.org/dc/terms/"/>
    <ds:schemaRef ds:uri="afd8de40-4577-43f4-bce1-a65c5284a207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2668d546-3bfe-48e6-96b8-e4e33740b882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F422172-AC2D-480E-B8A5-F6BA7C84E8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22F384-4626-4FA1-909B-88A7E068F0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68d546-3bfe-48e6-96b8-e4e33740b882"/>
    <ds:schemaRef ds:uri="afd8de40-4577-43f4-bce1-a65c5284a2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10105</TotalTime>
  <Words>422</Words>
  <Application>Microsoft Office PowerPoint</Application>
  <PresentationFormat>와이드스크린</PresentationFormat>
  <Paragraphs>93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Arial Narrow</vt:lpstr>
      <vt:lpstr>Tahoma</vt:lpstr>
      <vt:lpstr>Microsoft Sans Serif</vt:lpstr>
      <vt:lpstr>Times New Roman</vt:lpstr>
      <vt:lpstr>Arial</vt:lpstr>
      <vt:lpstr>Aptos Display</vt:lpstr>
      <vt:lpstr>굴림</vt:lpstr>
      <vt:lpstr>Wingdings</vt:lpstr>
      <vt:lpstr>1_islab2006-Eng</vt:lpstr>
      <vt:lpstr>Regular Meeting</vt:lpstr>
      <vt:lpstr>Last Last Week</vt:lpstr>
      <vt:lpstr>Last Last Week</vt:lpstr>
      <vt:lpstr>This Week</vt:lpstr>
      <vt:lpstr>PowerPoint 프레젠테이션</vt:lpstr>
    </vt:vector>
  </TitlesOfParts>
  <Manager/>
  <Company>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Transport System</dc:title>
  <dc:creator>Heechul_Lim</dc:creator>
  <cp:lastModifiedBy>정재호</cp:lastModifiedBy>
  <cp:revision>472</cp:revision>
  <dcterms:created xsi:type="dcterms:W3CDTF">2007-01-05T07:41:06Z</dcterms:created>
  <dcterms:modified xsi:type="dcterms:W3CDTF">2026-03-19T16:42:33Z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0x0101000C3D5B03685F1F4EB837328E4A4DA317</vt:lpwstr>
  </property>
  <property fmtid="{D5CDD505-2E9C-101B-9397-08002B2CF9AE}" pid="3" name="MediaServiceImageTags">
    <vt:lpwstr/>
  </property>
</Properties>
</file>